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5"/>
  </p:notesMasterIdLst>
  <p:sldIdLst>
    <p:sldId id="258" r:id="rId2"/>
    <p:sldId id="284" r:id="rId3"/>
    <p:sldId id="287" r:id="rId4"/>
    <p:sldId id="286" r:id="rId5"/>
    <p:sldId id="260" r:id="rId6"/>
    <p:sldId id="264" r:id="rId7"/>
    <p:sldId id="275" r:id="rId8"/>
    <p:sldId id="288" r:id="rId9"/>
    <p:sldId id="289" r:id="rId10"/>
    <p:sldId id="291" r:id="rId11"/>
    <p:sldId id="292" r:id="rId12"/>
    <p:sldId id="290" r:id="rId13"/>
    <p:sldId id="293" r:id="rId14"/>
    <p:sldId id="294" r:id="rId15"/>
    <p:sldId id="295" r:id="rId16"/>
    <p:sldId id="296" r:id="rId17"/>
    <p:sldId id="297" r:id="rId18"/>
    <p:sldId id="298" r:id="rId19"/>
    <p:sldId id="299" r:id="rId20"/>
    <p:sldId id="300" r:id="rId21"/>
    <p:sldId id="301" r:id="rId22"/>
    <p:sldId id="302" r:id="rId23"/>
    <p:sldId id="303" r:id="rId24"/>
    <p:sldId id="304" r:id="rId25"/>
    <p:sldId id="305" r:id="rId26"/>
    <p:sldId id="306" r:id="rId27"/>
    <p:sldId id="307" r:id="rId28"/>
    <p:sldId id="309" r:id="rId29"/>
    <p:sldId id="308" r:id="rId30"/>
    <p:sldId id="311" r:id="rId31"/>
    <p:sldId id="310" r:id="rId32"/>
    <p:sldId id="312" r:id="rId33"/>
    <p:sldId id="313" r:id="rId34"/>
  </p:sldIdLst>
  <p:sldSz cx="12192000" cy="6858000"/>
  <p:notesSz cx="6858000" cy="9144000"/>
  <p:custDataLst>
    <p:tags r:id="rId3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75" autoAdjust="0"/>
    <p:restoredTop sz="95026" autoAdjust="0"/>
  </p:normalViewPr>
  <p:slideViewPr>
    <p:cSldViewPr snapToGrid="0">
      <p:cViewPr varScale="1">
        <p:scale>
          <a:sx n="81" d="100"/>
          <a:sy n="81" d="100"/>
        </p:scale>
        <p:origin x="66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7844\Desktop\123\dewow_tst\two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17844\Desktop\123\dewow_tst\AGC_out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two!$D$5:$D$600</c:f>
              <c:numCache>
                <c:formatCode>0.00E+00</c:formatCode>
                <c:ptCount val="5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0.5</c:v>
                </c:pt>
                <c:pt idx="96">
                  <c:v>1</c:v>
                </c:pt>
                <c:pt idx="97">
                  <c:v>1.5</c:v>
                </c:pt>
                <c:pt idx="98">
                  <c:v>2</c:v>
                </c:pt>
                <c:pt idx="99">
                  <c:v>1.5</c:v>
                </c:pt>
                <c:pt idx="100">
                  <c:v>1</c:v>
                </c:pt>
                <c:pt idx="101">
                  <c:v>0.5</c:v>
                </c:pt>
                <c:pt idx="102">
                  <c:v>0</c:v>
                </c:pt>
                <c:pt idx="103">
                  <c:v>-0.5</c:v>
                </c:pt>
                <c:pt idx="104">
                  <c:v>-1</c:v>
                </c:pt>
                <c:pt idx="105">
                  <c:v>-1.5</c:v>
                </c:pt>
                <c:pt idx="106">
                  <c:v>-2</c:v>
                </c:pt>
                <c:pt idx="107">
                  <c:v>-1.5</c:v>
                </c:pt>
                <c:pt idx="108">
                  <c:v>-1</c:v>
                </c:pt>
                <c:pt idx="109">
                  <c:v>-0.5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0.15</c:v>
                </c:pt>
                <c:pt idx="496">
                  <c:v>0.3</c:v>
                </c:pt>
                <c:pt idx="497">
                  <c:v>0.15</c:v>
                </c:pt>
                <c:pt idx="498">
                  <c:v>0</c:v>
                </c:pt>
                <c:pt idx="499">
                  <c:v>-0.15</c:v>
                </c:pt>
                <c:pt idx="500">
                  <c:v>-0.3</c:v>
                </c:pt>
                <c:pt idx="501">
                  <c:v>-0.15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E0A-49C8-BDB3-B49764FCF1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819317968"/>
        <c:axId val="1819319408"/>
      </c:lineChart>
      <c:catAx>
        <c:axId val="18193179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9319408"/>
        <c:crosses val="autoZero"/>
        <c:auto val="1"/>
        <c:lblAlgn val="ctr"/>
        <c:lblOffset val="100"/>
        <c:noMultiLvlLbl val="0"/>
      </c:catAx>
      <c:valAx>
        <c:axId val="18193194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E+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8193179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val>
            <c:numRef>
              <c:f>AGC_out!$D$5:$D$600</c:f>
              <c:numCache>
                <c:formatCode>General</c:formatCode>
                <c:ptCount val="59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  <c:pt idx="60">
                  <c:v>0</c:v>
                </c:pt>
                <c:pt idx="61">
                  <c:v>0</c:v>
                </c:pt>
                <c:pt idx="62">
                  <c:v>0</c:v>
                </c:pt>
                <c:pt idx="63">
                  <c:v>0</c:v>
                </c:pt>
                <c:pt idx="64">
                  <c:v>0</c:v>
                </c:pt>
                <c:pt idx="65">
                  <c:v>0</c:v>
                </c:pt>
                <c:pt idx="66">
                  <c:v>0</c:v>
                </c:pt>
                <c:pt idx="67">
                  <c:v>0</c:v>
                </c:pt>
                <c:pt idx="68">
                  <c:v>0</c:v>
                </c:pt>
                <c:pt idx="69">
                  <c:v>0</c:v>
                </c:pt>
                <c:pt idx="70">
                  <c:v>0</c:v>
                </c:pt>
                <c:pt idx="71">
                  <c:v>0</c:v>
                </c:pt>
                <c:pt idx="72">
                  <c:v>0</c:v>
                </c:pt>
                <c:pt idx="73">
                  <c:v>0</c:v>
                </c:pt>
                <c:pt idx="74">
                  <c:v>0</c:v>
                </c:pt>
                <c:pt idx="75">
                  <c:v>0</c:v>
                </c:pt>
                <c:pt idx="76">
                  <c:v>0</c:v>
                </c:pt>
                <c:pt idx="77">
                  <c:v>0</c:v>
                </c:pt>
                <c:pt idx="78">
                  <c:v>0</c:v>
                </c:pt>
                <c:pt idx="79">
                  <c:v>0</c:v>
                </c:pt>
                <c:pt idx="80">
                  <c:v>0</c:v>
                </c:pt>
                <c:pt idx="81">
                  <c:v>0</c:v>
                </c:pt>
                <c:pt idx="82">
                  <c:v>0</c:v>
                </c:pt>
                <c:pt idx="83">
                  <c:v>0</c:v>
                </c:pt>
                <c:pt idx="84">
                  <c:v>0</c:v>
                </c:pt>
                <c:pt idx="85">
                  <c:v>0</c:v>
                </c:pt>
                <c:pt idx="86">
                  <c:v>0</c:v>
                </c:pt>
                <c:pt idx="87">
                  <c:v>0</c:v>
                </c:pt>
                <c:pt idx="88">
                  <c:v>0</c:v>
                </c:pt>
                <c:pt idx="89">
                  <c:v>0</c:v>
                </c:pt>
                <c:pt idx="90">
                  <c:v>0</c:v>
                </c:pt>
                <c:pt idx="91">
                  <c:v>0</c:v>
                </c:pt>
                <c:pt idx="92">
                  <c:v>0</c:v>
                </c:pt>
                <c:pt idx="93">
                  <c:v>0</c:v>
                </c:pt>
                <c:pt idx="94">
                  <c:v>0</c:v>
                </c:pt>
                <c:pt idx="95">
                  <c:v>0.152498570332604</c:v>
                </c:pt>
                <c:pt idx="96">
                  <c:v>0.30151134457776302</c:v>
                </c:pt>
                <c:pt idx="97">
                  <c:v>0.452267016866645</c:v>
                </c:pt>
                <c:pt idx="98">
                  <c:v>0.59628479399994305</c:v>
                </c:pt>
                <c:pt idx="99">
                  <c:v>0.42857142857142799</c:v>
                </c:pt>
                <c:pt idx="100">
                  <c:v>0.26261286571944498</c:v>
                </c:pt>
                <c:pt idx="101">
                  <c:v>0.11704114719613</c:v>
                </c:pt>
                <c:pt idx="102">
                  <c:v>0</c:v>
                </c:pt>
                <c:pt idx="103">
                  <c:v>-0.11704114719613</c:v>
                </c:pt>
                <c:pt idx="104">
                  <c:v>-0.26261286571944498</c:v>
                </c:pt>
                <c:pt idx="105">
                  <c:v>-0.42857142857142799</c:v>
                </c:pt>
                <c:pt idx="106">
                  <c:v>-0.59628479399994305</c:v>
                </c:pt>
                <c:pt idx="107">
                  <c:v>-0.452267016866645</c:v>
                </c:pt>
                <c:pt idx="108">
                  <c:v>-0.30151134457776302</c:v>
                </c:pt>
                <c:pt idx="109">
                  <c:v>-0.152498570332604</c:v>
                </c:pt>
                <c:pt idx="110">
                  <c:v>0</c:v>
                </c:pt>
                <c:pt idx="111">
                  <c:v>0</c:v>
                </c:pt>
                <c:pt idx="112">
                  <c:v>0</c:v>
                </c:pt>
                <c:pt idx="113">
                  <c:v>0</c:v>
                </c:pt>
                <c:pt idx="114">
                  <c:v>0</c:v>
                </c:pt>
                <c:pt idx="115">
                  <c:v>0</c:v>
                </c:pt>
                <c:pt idx="116">
                  <c:v>0</c:v>
                </c:pt>
                <c:pt idx="117">
                  <c:v>0</c:v>
                </c:pt>
                <c:pt idx="118">
                  <c:v>0</c:v>
                </c:pt>
                <c:pt idx="119">
                  <c:v>0</c:v>
                </c:pt>
                <c:pt idx="120">
                  <c:v>0</c:v>
                </c:pt>
                <c:pt idx="121">
                  <c:v>0</c:v>
                </c:pt>
                <c:pt idx="122">
                  <c:v>0</c:v>
                </c:pt>
                <c:pt idx="123">
                  <c:v>0</c:v>
                </c:pt>
                <c:pt idx="124">
                  <c:v>0</c:v>
                </c:pt>
                <c:pt idx="125">
                  <c:v>0</c:v>
                </c:pt>
                <c:pt idx="126">
                  <c:v>0</c:v>
                </c:pt>
                <c:pt idx="127">
                  <c:v>0</c:v>
                </c:pt>
                <c:pt idx="128">
                  <c:v>0</c:v>
                </c:pt>
                <c:pt idx="129">
                  <c:v>0</c:v>
                </c:pt>
                <c:pt idx="130">
                  <c:v>0</c:v>
                </c:pt>
                <c:pt idx="131">
                  <c:v>0</c:v>
                </c:pt>
                <c:pt idx="132">
                  <c:v>0</c:v>
                </c:pt>
                <c:pt idx="133">
                  <c:v>0</c:v>
                </c:pt>
                <c:pt idx="134">
                  <c:v>0</c:v>
                </c:pt>
                <c:pt idx="135">
                  <c:v>0</c:v>
                </c:pt>
                <c:pt idx="136">
                  <c:v>0</c:v>
                </c:pt>
                <c:pt idx="137">
                  <c:v>0</c:v>
                </c:pt>
                <c:pt idx="138">
                  <c:v>0</c:v>
                </c:pt>
                <c:pt idx="139">
                  <c:v>0</c:v>
                </c:pt>
                <c:pt idx="140">
                  <c:v>0</c:v>
                </c:pt>
                <c:pt idx="141">
                  <c:v>0</c:v>
                </c:pt>
                <c:pt idx="142">
                  <c:v>0</c:v>
                </c:pt>
                <c:pt idx="143">
                  <c:v>0</c:v>
                </c:pt>
                <c:pt idx="144">
                  <c:v>0</c:v>
                </c:pt>
                <c:pt idx="145">
                  <c:v>0</c:v>
                </c:pt>
                <c:pt idx="146">
                  <c:v>0</c:v>
                </c:pt>
                <c:pt idx="147">
                  <c:v>0</c:v>
                </c:pt>
                <c:pt idx="148">
                  <c:v>0</c:v>
                </c:pt>
                <c:pt idx="149">
                  <c:v>0</c:v>
                </c:pt>
                <c:pt idx="150">
                  <c:v>0</c:v>
                </c:pt>
                <c:pt idx="151">
                  <c:v>0</c:v>
                </c:pt>
                <c:pt idx="152">
                  <c:v>0</c:v>
                </c:pt>
                <c:pt idx="153">
                  <c:v>0</c:v>
                </c:pt>
                <c:pt idx="154">
                  <c:v>0</c:v>
                </c:pt>
                <c:pt idx="155">
                  <c:v>0</c:v>
                </c:pt>
                <c:pt idx="156">
                  <c:v>0</c:v>
                </c:pt>
                <c:pt idx="157">
                  <c:v>0</c:v>
                </c:pt>
                <c:pt idx="158">
                  <c:v>0</c:v>
                </c:pt>
                <c:pt idx="159">
                  <c:v>0</c:v>
                </c:pt>
                <c:pt idx="160">
                  <c:v>0</c:v>
                </c:pt>
                <c:pt idx="161">
                  <c:v>0</c:v>
                </c:pt>
                <c:pt idx="162">
                  <c:v>0</c:v>
                </c:pt>
                <c:pt idx="163">
                  <c:v>0</c:v>
                </c:pt>
                <c:pt idx="164">
                  <c:v>0</c:v>
                </c:pt>
                <c:pt idx="165">
                  <c:v>0</c:v>
                </c:pt>
                <c:pt idx="166">
                  <c:v>0</c:v>
                </c:pt>
                <c:pt idx="167">
                  <c:v>0</c:v>
                </c:pt>
                <c:pt idx="168">
                  <c:v>0</c:v>
                </c:pt>
                <c:pt idx="169">
                  <c:v>0</c:v>
                </c:pt>
                <c:pt idx="170">
                  <c:v>0</c:v>
                </c:pt>
                <c:pt idx="171">
                  <c:v>0</c:v>
                </c:pt>
                <c:pt idx="172">
                  <c:v>0</c:v>
                </c:pt>
                <c:pt idx="173">
                  <c:v>0</c:v>
                </c:pt>
                <c:pt idx="174">
                  <c:v>0</c:v>
                </c:pt>
                <c:pt idx="175">
                  <c:v>0</c:v>
                </c:pt>
                <c:pt idx="176">
                  <c:v>0</c:v>
                </c:pt>
                <c:pt idx="177">
                  <c:v>0</c:v>
                </c:pt>
                <c:pt idx="178">
                  <c:v>0</c:v>
                </c:pt>
                <c:pt idx="179">
                  <c:v>0</c:v>
                </c:pt>
                <c:pt idx="180">
                  <c:v>0</c:v>
                </c:pt>
                <c:pt idx="181">
                  <c:v>0</c:v>
                </c:pt>
                <c:pt idx="182">
                  <c:v>0</c:v>
                </c:pt>
                <c:pt idx="183">
                  <c:v>0</c:v>
                </c:pt>
                <c:pt idx="184">
                  <c:v>0</c:v>
                </c:pt>
                <c:pt idx="185">
                  <c:v>0</c:v>
                </c:pt>
                <c:pt idx="186">
                  <c:v>0</c:v>
                </c:pt>
                <c:pt idx="187">
                  <c:v>0</c:v>
                </c:pt>
                <c:pt idx="188">
                  <c:v>0</c:v>
                </c:pt>
                <c:pt idx="189">
                  <c:v>0</c:v>
                </c:pt>
                <c:pt idx="190">
                  <c:v>0</c:v>
                </c:pt>
                <c:pt idx="191">
                  <c:v>0</c:v>
                </c:pt>
                <c:pt idx="192">
                  <c:v>0</c:v>
                </c:pt>
                <c:pt idx="193">
                  <c:v>0</c:v>
                </c:pt>
                <c:pt idx="194">
                  <c:v>0</c:v>
                </c:pt>
                <c:pt idx="195">
                  <c:v>0</c:v>
                </c:pt>
                <c:pt idx="196">
                  <c:v>0</c:v>
                </c:pt>
                <c:pt idx="197">
                  <c:v>0</c:v>
                </c:pt>
                <c:pt idx="198">
                  <c:v>0</c:v>
                </c:pt>
                <c:pt idx="199">
                  <c:v>0</c:v>
                </c:pt>
                <c:pt idx="200">
                  <c:v>0</c:v>
                </c:pt>
                <c:pt idx="201">
                  <c:v>0</c:v>
                </c:pt>
                <c:pt idx="202">
                  <c:v>0</c:v>
                </c:pt>
                <c:pt idx="203">
                  <c:v>0</c:v>
                </c:pt>
                <c:pt idx="204">
                  <c:v>0</c:v>
                </c:pt>
                <c:pt idx="205">
                  <c:v>0</c:v>
                </c:pt>
                <c:pt idx="206">
                  <c:v>0</c:v>
                </c:pt>
                <c:pt idx="207">
                  <c:v>0</c:v>
                </c:pt>
                <c:pt idx="208">
                  <c:v>0</c:v>
                </c:pt>
                <c:pt idx="209">
                  <c:v>0</c:v>
                </c:pt>
                <c:pt idx="210">
                  <c:v>0</c:v>
                </c:pt>
                <c:pt idx="211">
                  <c:v>0</c:v>
                </c:pt>
                <c:pt idx="212">
                  <c:v>0</c:v>
                </c:pt>
                <c:pt idx="213">
                  <c:v>0</c:v>
                </c:pt>
                <c:pt idx="214">
                  <c:v>0</c:v>
                </c:pt>
                <c:pt idx="215">
                  <c:v>0</c:v>
                </c:pt>
                <c:pt idx="216">
                  <c:v>0</c:v>
                </c:pt>
                <c:pt idx="217">
                  <c:v>0</c:v>
                </c:pt>
                <c:pt idx="218">
                  <c:v>0</c:v>
                </c:pt>
                <c:pt idx="219">
                  <c:v>0</c:v>
                </c:pt>
                <c:pt idx="220">
                  <c:v>0</c:v>
                </c:pt>
                <c:pt idx="221">
                  <c:v>0</c:v>
                </c:pt>
                <c:pt idx="222">
                  <c:v>0</c:v>
                </c:pt>
                <c:pt idx="223">
                  <c:v>0</c:v>
                </c:pt>
                <c:pt idx="224">
                  <c:v>0</c:v>
                </c:pt>
                <c:pt idx="225">
                  <c:v>0</c:v>
                </c:pt>
                <c:pt idx="226">
                  <c:v>0</c:v>
                </c:pt>
                <c:pt idx="227">
                  <c:v>0</c:v>
                </c:pt>
                <c:pt idx="228">
                  <c:v>0</c:v>
                </c:pt>
                <c:pt idx="229">
                  <c:v>0</c:v>
                </c:pt>
                <c:pt idx="230">
                  <c:v>0</c:v>
                </c:pt>
                <c:pt idx="231">
                  <c:v>0</c:v>
                </c:pt>
                <c:pt idx="232">
                  <c:v>0</c:v>
                </c:pt>
                <c:pt idx="233">
                  <c:v>0</c:v>
                </c:pt>
                <c:pt idx="234">
                  <c:v>0</c:v>
                </c:pt>
                <c:pt idx="235">
                  <c:v>0</c:v>
                </c:pt>
                <c:pt idx="236">
                  <c:v>0</c:v>
                </c:pt>
                <c:pt idx="237">
                  <c:v>0</c:v>
                </c:pt>
                <c:pt idx="238">
                  <c:v>0</c:v>
                </c:pt>
                <c:pt idx="239">
                  <c:v>0</c:v>
                </c:pt>
                <c:pt idx="240">
                  <c:v>0</c:v>
                </c:pt>
                <c:pt idx="241">
                  <c:v>0</c:v>
                </c:pt>
                <c:pt idx="242">
                  <c:v>0</c:v>
                </c:pt>
                <c:pt idx="243">
                  <c:v>0</c:v>
                </c:pt>
                <c:pt idx="244">
                  <c:v>0</c:v>
                </c:pt>
                <c:pt idx="245">
                  <c:v>0</c:v>
                </c:pt>
                <c:pt idx="246">
                  <c:v>0</c:v>
                </c:pt>
                <c:pt idx="247">
                  <c:v>0</c:v>
                </c:pt>
                <c:pt idx="248">
                  <c:v>0</c:v>
                </c:pt>
                <c:pt idx="249">
                  <c:v>0</c:v>
                </c:pt>
                <c:pt idx="250">
                  <c:v>0</c:v>
                </c:pt>
                <c:pt idx="251">
                  <c:v>0</c:v>
                </c:pt>
                <c:pt idx="252">
                  <c:v>0</c:v>
                </c:pt>
                <c:pt idx="253">
                  <c:v>0</c:v>
                </c:pt>
                <c:pt idx="254">
                  <c:v>0</c:v>
                </c:pt>
                <c:pt idx="255">
                  <c:v>0</c:v>
                </c:pt>
                <c:pt idx="256">
                  <c:v>0</c:v>
                </c:pt>
                <c:pt idx="257">
                  <c:v>0</c:v>
                </c:pt>
                <c:pt idx="258">
                  <c:v>0</c:v>
                </c:pt>
                <c:pt idx="259">
                  <c:v>0</c:v>
                </c:pt>
                <c:pt idx="260">
                  <c:v>0</c:v>
                </c:pt>
                <c:pt idx="261">
                  <c:v>0</c:v>
                </c:pt>
                <c:pt idx="262">
                  <c:v>0</c:v>
                </c:pt>
                <c:pt idx="263">
                  <c:v>0</c:v>
                </c:pt>
                <c:pt idx="264">
                  <c:v>0</c:v>
                </c:pt>
                <c:pt idx="265">
                  <c:v>0</c:v>
                </c:pt>
                <c:pt idx="266">
                  <c:v>0</c:v>
                </c:pt>
                <c:pt idx="267">
                  <c:v>0</c:v>
                </c:pt>
                <c:pt idx="268">
                  <c:v>0</c:v>
                </c:pt>
                <c:pt idx="269">
                  <c:v>0</c:v>
                </c:pt>
                <c:pt idx="270">
                  <c:v>0</c:v>
                </c:pt>
                <c:pt idx="271">
                  <c:v>0</c:v>
                </c:pt>
                <c:pt idx="272">
                  <c:v>0</c:v>
                </c:pt>
                <c:pt idx="273">
                  <c:v>0</c:v>
                </c:pt>
                <c:pt idx="274">
                  <c:v>0</c:v>
                </c:pt>
                <c:pt idx="275">
                  <c:v>0</c:v>
                </c:pt>
                <c:pt idx="276">
                  <c:v>0</c:v>
                </c:pt>
                <c:pt idx="277">
                  <c:v>0</c:v>
                </c:pt>
                <c:pt idx="278">
                  <c:v>0</c:v>
                </c:pt>
                <c:pt idx="279">
                  <c:v>0</c:v>
                </c:pt>
                <c:pt idx="280">
                  <c:v>0</c:v>
                </c:pt>
                <c:pt idx="281">
                  <c:v>0</c:v>
                </c:pt>
                <c:pt idx="282">
                  <c:v>0</c:v>
                </c:pt>
                <c:pt idx="283">
                  <c:v>0</c:v>
                </c:pt>
                <c:pt idx="284">
                  <c:v>0</c:v>
                </c:pt>
                <c:pt idx="285">
                  <c:v>0</c:v>
                </c:pt>
                <c:pt idx="286">
                  <c:v>0</c:v>
                </c:pt>
                <c:pt idx="287">
                  <c:v>0</c:v>
                </c:pt>
                <c:pt idx="288">
                  <c:v>0</c:v>
                </c:pt>
                <c:pt idx="289">
                  <c:v>0</c:v>
                </c:pt>
                <c:pt idx="290">
                  <c:v>0</c:v>
                </c:pt>
                <c:pt idx="291">
                  <c:v>0</c:v>
                </c:pt>
                <c:pt idx="292">
                  <c:v>0</c:v>
                </c:pt>
                <c:pt idx="293">
                  <c:v>0</c:v>
                </c:pt>
                <c:pt idx="294">
                  <c:v>0</c:v>
                </c:pt>
                <c:pt idx="295">
                  <c:v>0</c:v>
                </c:pt>
                <c:pt idx="296">
                  <c:v>0</c:v>
                </c:pt>
                <c:pt idx="297">
                  <c:v>0</c:v>
                </c:pt>
                <c:pt idx="298">
                  <c:v>0</c:v>
                </c:pt>
                <c:pt idx="299">
                  <c:v>0</c:v>
                </c:pt>
                <c:pt idx="300">
                  <c:v>0</c:v>
                </c:pt>
                <c:pt idx="301">
                  <c:v>0</c:v>
                </c:pt>
                <c:pt idx="302">
                  <c:v>0</c:v>
                </c:pt>
                <c:pt idx="303">
                  <c:v>0</c:v>
                </c:pt>
                <c:pt idx="304">
                  <c:v>0</c:v>
                </c:pt>
                <c:pt idx="305">
                  <c:v>0</c:v>
                </c:pt>
                <c:pt idx="306">
                  <c:v>0</c:v>
                </c:pt>
                <c:pt idx="307">
                  <c:v>0</c:v>
                </c:pt>
                <c:pt idx="308">
                  <c:v>0</c:v>
                </c:pt>
                <c:pt idx="309">
                  <c:v>0</c:v>
                </c:pt>
                <c:pt idx="310">
                  <c:v>0</c:v>
                </c:pt>
                <c:pt idx="311">
                  <c:v>0</c:v>
                </c:pt>
                <c:pt idx="312">
                  <c:v>0</c:v>
                </c:pt>
                <c:pt idx="313">
                  <c:v>0</c:v>
                </c:pt>
                <c:pt idx="314">
                  <c:v>0</c:v>
                </c:pt>
                <c:pt idx="315">
                  <c:v>0</c:v>
                </c:pt>
                <c:pt idx="316">
                  <c:v>0</c:v>
                </c:pt>
                <c:pt idx="317">
                  <c:v>0</c:v>
                </c:pt>
                <c:pt idx="318">
                  <c:v>0</c:v>
                </c:pt>
                <c:pt idx="319">
                  <c:v>0</c:v>
                </c:pt>
                <c:pt idx="320">
                  <c:v>0</c:v>
                </c:pt>
                <c:pt idx="321">
                  <c:v>0</c:v>
                </c:pt>
                <c:pt idx="322">
                  <c:v>0</c:v>
                </c:pt>
                <c:pt idx="323">
                  <c:v>0</c:v>
                </c:pt>
                <c:pt idx="324">
                  <c:v>0</c:v>
                </c:pt>
                <c:pt idx="325">
                  <c:v>0</c:v>
                </c:pt>
                <c:pt idx="326">
                  <c:v>0</c:v>
                </c:pt>
                <c:pt idx="327">
                  <c:v>0</c:v>
                </c:pt>
                <c:pt idx="328">
                  <c:v>0</c:v>
                </c:pt>
                <c:pt idx="329">
                  <c:v>0</c:v>
                </c:pt>
                <c:pt idx="330">
                  <c:v>0</c:v>
                </c:pt>
                <c:pt idx="331">
                  <c:v>0</c:v>
                </c:pt>
                <c:pt idx="332">
                  <c:v>0</c:v>
                </c:pt>
                <c:pt idx="333">
                  <c:v>0</c:v>
                </c:pt>
                <c:pt idx="334">
                  <c:v>0</c:v>
                </c:pt>
                <c:pt idx="335">
                  <c:v>0</c:v>
                </c:pt>
                <c:pt idx="336">
                  <c:v>0</c:v>
                </c:pt>
                <c:pt idx="337">
                  <c:v>0</c:v>
                </c:pt>
                <c:pt idx="338">
                  <c:v>0</c:v>
                </c:pt>
                <c:pt idx="339">
                  <c:v>0</c:v>
                </c:pt>
                <c:pt idx="340">
                  <c:v>0</c:v>
                </c:pt>
                <c:pt idx="341">
                  <c:v>0</c:v>
                </c:pt>
                <c:pt idx="342">
                  <c:v>0</c:v>
                </c:pt>
                <c:pt idx="343">
                  <c:v>0</c:v>
                </c:pt>
                <c:pt idx="344">
                  <c:v>0</c:v>
                </c:pt>
                <c:pt idx="345">
                  <c:v>0</c:v>
                </c:pt>
                <c:pt idx="346">
                  <c:v>0</c:v>
                </c:pt>
                <c:pt idx="347">
                  <c:v>0</c:v>
                </c:pt>
                <c:pt idx="348">
                  <c:v>0</c:v>
                </c:pt>
                <c:pt idx="349">
                  <c:v>0</c:v>
                </c:pt>
                <c:pt idx="350">
                  <c:v>0</c:v>
                </c:pt>
                <c:pt idx="351">
                  <c:v>0</c:v>
                </c:pt>
                <c:pt idx="352">
                  <c:v>0</c:v>
                </c:pt>
                <c:pt idx="353">
                  <c:v>0</c:v>
                </c:pt>
                <c:pt idx="354">
                  <c:v>0</c:v>
                </c:pt>
                <c:pt idx="355">
                  <c:v>0</c:v>
                </c:pt>
                <c:pt idx="356">
                  <c:v>0</c:v>
                </c:pt>
                <c:pt idx="357">
                  <c:v>0</c:v>
                </c:pt>
                <c:pt idx="358">
                  <c:v>0</c:v>
                </c:pt>
                <c:pt idx="359">
                  <c:v>0</c:v>
                </c:pt>
                <c:pt idx="360">
                  <c:v>0</c:v>
                </c:pt>
                <c:pt idx="361">
                  <c:v>0</c:v>
                </c:pt>
                <c:pt idx="362">
                  <c:v>0</c:v>
                </c:pt>
                <c:pt idx="363">
                  <c:v>0</c:v>
                </c:pt>
                <c:pt idx="364">
                  <c:v>0</c:v>
                </c:pt>
                <c:pt idx="365">
                  <c:v>0</c:v>
                </c:pt>
                <c:pt idx="366">
                  <c:v>0</c:v>
                </c:pt>
                <c:pt idx="367">
                  <c:v>0</c:v>
                </c:pt>
                <c:pt idx="368">
                  <c:v>0</c:v>
                </c:pt>
                <c:pt idx="369">
                  <c:v>0</c:v>
                </c:pt>
                <c:pt idx="370">
                  <c:v>0</c:v>
                </c:pt>
                <c:pt idx="371">
                  <c:v>0</c:v>
                </c:pt>
                <c:pt idx="372">
                  <c:v>0</c:v>
                </c:pt>
                <c:pt idx="373">
                  <c:v>0</c:v>
                </c:pt>
                <c:pt idx="374">
                  <c:v>0</c:v>
                </c:pt>
                <c:pt idx="375">
                  <c:v>0</c:v>
                </c:pt>
                <c:pt idx="376">
                  <c:v>0</c:v>
                </c:pt>
                <c:pt idx="377">
                  <c:v>0</c:v>
                </c:pt>
                <c:pt idx="378">
                  <c:v>0</c:v>
                </c:pt>
                <c:pt idx="379">
                  <c:v>0</c:v>
                </c:pt>
                <c:pt idx="380">
                  <c:v>0</c:v>
                </c:pt>
                <c:pt idx="381">
                  <c:v>0</c:v>
                </c:pt>
                <c:pt idx="382">
                  <c:v>0</c:v>
                </c:pt>
                <c:pt idx="383">
                  <c:v>0</c:v>
                </c:pt>
                <c:pt idx="384">
                  <c:v>0</c:v>
                </c:pt>
                <c:pt idx="385">
                  <c:v>0</c:v>
                </c:pt>
                <c:pt idx="386">
                  <c:v>0</c:v>
                </c:pt>
                <c:pt idx="387">
                  <c:v>0</c:v>
                </c:pt>
                <c:pt idx="388">
                  <c:v>0</c:v>
                </c:pt>
                <c:pt idx="389">
                  <c:v>0</c:v>
                </c:pt>
                <c:pt idx="390">
                  <c:v>0</c:v>
                </c:pt>
                <c:pt idx="391">
                  <c:v>0</c:v>
                </c:pt>
                <c:pt idx="392">
                  <c:v>0</c:v>
                </c:pt>
                <c:pt idx="393">
                  <c:v>0</c:v>
                </c:pt>
                <c:pt idx="394">
                  <c:v>0</c:v>
                </c:pt>
                <c:pt idx="395">
                  <c:v>0</c:v>
                </c:pt>
                <c:pt idx="396">
                  <c:v>0</c:v>
                </c:pt>
                <c:pt idx="397">
                  <c:v>0</c:v>
                </c:pt>
                <c:pt idx="398">
                  <c:v>0</c:v>
                </c:pt>
                <c:pt idx="399">
                  <c:v>0</c:v>
                </c:pt>
                <c:pt idx="400">
                  <c:v>0</c:v>
                </c:pt>
                <c:pt idx="401">
                  <c:v>0</c:v>
                </c:pt>
                <c:pt idx="402">
                  <c:v>0</c:v>
                </c:pt>
                <c:pt idx="403">
                  <c:v>0</c:v>
                </c:pt>
                <c:pt idx="404">
                  <c:v>0</c:v>
                </c:pt>
                <c:pt idx="405">
                  <c:v>0</c:v>
                </c:pt>
                <c:pt idx="406">
                  <c:v>0</c:v>
                </c:pt>
                <c:pt idx="407">
                  <c:v>0</c:v>
                </c:pt>
                <c:pt idx="408">
                  <c:v>0</c:v>
                </c:pt>
                <c:pt idx="409">
                  <c:v>0</c:v>
                </c:pt>
                <c:pt idx="410">
                  <c:v>0</c:v>
                </c:pt>
                <c:pt idx="411">
                  <c:v>0</c:v>
                </c:pt>
                <c:pt idx="412">
                  <c:v>0</c:v>
                </c:pt>
                <c:pt idx="413">
                  <c:v>0</c:v>
                </c:pt>
                <c:pt idx="414">
                  <c:v>0</c:v>
                </c:pt>
                <c:pt idx="415">
                  <c:v>0</c:v>
                </c:pt>
                <c:pt idx="416">
                  <c:v>0</c:v>
                </c:pt>
                <c:pt idx="417">
                  <c:v>0</c:v>
                </c:pt>
                <c:pt idx="418">
                  <c:v>0</c:v>
                </c:pt>
                <c:pt idx="419">
                  <c:v>0</c:v>
                </c:pt>
                <c:pt idx="420">
                  <c:v>0</c:v>
                </c:pt>
                <c:pt idx="421">
                  <c:v>0</c:v>
                </c:pt>
                <c:pt idx="422">
                  <c:v>0</c:v>
                </c:pt>
                <c:pt idx="423">
                  <c:v>0</c:v>
                </c:pt>
                <c:pt idx="424">
                  <c:v>0</c:v>
                </c:pt>
                <c:pt idx="425">
                  <c:v>0</c:v>
                </c:pt>
                <c:pt idx="426">
                  <c:v>0</c:v>
                </c:pt>
                <c:pt idx="427">
                  <c:v>0</c:v>
                </c:pt>
                <c:pt idx="428">
                  <c:v>0</c:v>
                </c:pt>
                <c:pt idx="429">
                  <c:v>0</c:v>
                </c:pt>
                <c:pt idx="430">
                  <c:v>0</c:v>
                </c:pt>
                <c:pt idx="431">
                  <c:v>0</c:v>
                </c:pt>
                <c:pt idx="432">
                  <c:v>0</c:v>
                </c:pt>
                <c:pt idx="433">
                  <c:v>0</c:v>
                </c:pt>
                <c:pt idx="434">
                  <c:v>0</c:v>
                </c:pt>
                <c:pt idx="435">
                  <c:v>0</c:v>
                </c:pt>
                <c:pt idx="436">
                  <c:v>0</c:v>
                </c:pt>
                <c:pt idx="437">
                  <c:v>0</c:v>
                </c:pt>
                <c:pt idx="438">
                  <c:v>0</c:v>
                </c:pt>
                <c:pt idx="439">
                  <c:v>0</c:v>
                </c:pt>
                <c:pt idx="440">
                  <c:v>0</c:v>
                </c:pt>
                <c:pt idx="441">
                  <c:v>0</c:v>
                </c:pt>
                <c:pt idx="442">
                  <c:v>0</c:v>
                </c:pt>
                <c:pt idx="443">
                  <c:v>0</c:v>
                </c:pt>
                <c:pt idx="444">
                  <c:v>0</c:v>
                </c:pt>
                <c:pt idx="445">
                  <c:v>0</c:v>
                </c:pt>
                <c:pt idx="446">
                  <c:v>0</c:v>
                </c:pt>
                <c:pt idx="447">
                  <c:v>0</c:v>
                </c:pt>
                <c:pt idx="448">
                  <c:v>0</c:v>
                </c:pt>
                <c:pt idx="449">
                  <c:v>0</c:v>
                </c:pt>
                <c:pt idx="450">
                  <c:v>0</c:v>
                </c:pt>
                <c:pt idx="451">
                  <c:v>0</c:v>
                </c:pt>
                <c:pt idx="452">
                  <c:v>0</c:v>
                </c:pt>
                <c:pt idx="453">
                  <c:v>0</c:v>
                </c:pt>
                <c:pt idx="454">
                  <c:v>0</c:v>
                </c:pt>
                <c:pt idx="455">
                  <c:v>0</c:v>
                </c:pt>
                <c:pt idx="456">
                  <c:v>0</c:v>
                </c:pt>
                <c:pt idx="457">
                  <c:v>0</c:v>
                </c:pt>
                <c:pt idx="458">
                  <c:v>0</c:v>
                </c:pt>
                <c:pt idx="459">
                  <c:v>0</c:v>
                </c:pt>
                <c:pt idx="460">
                  <c:v>0</c:v>
                </c:pt>
                <c:pt idx="461">
                  <c:v>0</c:v>
                </c:pt>
                <c:pt idx="462">
                  <c:v>0</c:v>
                </c:pt>
                <c:pt idx="463">
                  <c:v>0</c:v>
                </c:pt>
                <c:pt idx="464">
                  <c:v>0</c:v>
                </c:pt>
                <c:pt idx="465">
                  <c:v>0</c:v>
                </c:pt>
                <c:pt idx="466">
                  <c:v>0</c:v>
                </c:pt>
                <c:pt idx="467">
                  <c:v>0</c:v>
                </c:pt>
                <c:pt idx="468">
                  <c:v>0</c:v>
                </c:pt>
                <c:pt idx="469">
                  <c:v>0</c:v>
                </c:pt>
                <c:pt idx="470">
                  <c:v>0</c:v>
                </c:pt>
                <c:pt idx="471">
                  <c:v>0</c:v>
                </c:pt>
                <c:pt idx="472">
                  <c:v>0</c:v>
                </c:pt>
                <c:pt idx="473">
                  <c:v>0</c:v>
                </c:pt>
                <c:pt idx="474">
                  <c:v>0</c:v>
                </c:pt>
                <c:pt idx="475">
                  <c:v>0</c:v>
                </c:pt>
                <c:pt idx="476">
                  <c:v>0</c:v>
                </c:pt>
                <c:pt idx="477">
                  <c:v>0</c:v>
                </c:pt>
                <c:pt idx="478">
                  <c:v>0</c:v>
                </c:pt>
                <c:pt idx="479">
                  <c:v>0</c:v>
                </c:pt>
                <c:pt idx="480">
                  <c:v>0</c:v>
                </c:pt>
                <c:pt idx="481">
                  <c:v>0</c:v>
                </c:pt>
                <c:pt idx="482">
                  <c:v>0</c:v>
                </c:pt>
                <c:pt idx="483">
                  <c:v>0</c:v>
                </c:pt>
                <c:pt idx="484">
                  <c:v>0</c:v>
                </c:pt>
                <c:pt idx="485">
                  <c:v>0</c:v>
                </c:pt>
                <c:pt idx="486">
                  <c:v>0</c:v>
                </c:pt>
                <c:pt idx="487">
                  <c:v>0</c:v>
                </c:pt>
                <c:pt idx="488">
                  <c:v>0</c:v>
                </c:pt>
                <c:pt idx="489">
                  <c:v>0</c:v>
                </c:pt>
                <c:pt idx="490">
                  <c:v>0</c:v>
                </c:pt>
                <c:pt idx="491">
                  <c:v>0</c:v>
                </c:pt>
                <c:pt idx="492">
                  <c:v>0</c:v>
                </c:pt>
                <c:pt idx="493">
                  <c:v>0</c:v>
                </c:pt>
                <c:pt idx="494">
                  <c:v>0</c:v>
                </c:pt>
                <c:pt idx="495">
                  <c:v>0.30151134457776302</c:v>
                </c:pt>
                <c:pt idx="496">
                  <c:v>0.57735026918962495</c:v>
                </c:pt>
                <c:pt idx="497">
                  <c:v>0.28867513459481198</c:v>
                </c:pt>
                <c:pt idx="498">
                  <c:v>0</c:v>
                </c:pt>
                <c:pt idx="499">
                  <c:v>-0.28867513459481198</c:v>
                </c:pt>
                <c:pt idx="500">
                  <c:v>-0.57735026918962495</c:v>
                </c:pt>
                <c:pt idx="501">
                  <c:v>-0.30151134457776302</c:v>
                </c:pt>
                <c:pt idx="502">
                  <c:v>0</c:v>
                </c:pt>
                <c:pt idx="503">
                  <c:v>0</c:v>
                </c:pt>
                <c:pt idx="504">
                  <c:v>0</c:v>
                </c:pt>
                <c:pt idx="505">
                  <c:v>0</c:v>
                </c:pt>
                <c:pt idx="506">
                  <c:v>0</c:v>
                </c:pt>
                <c:pt idx="507">
                  <c:v>0</c:v>
                </c:pt>
                <c:pt idx="508">
                  <c:v>0</c:v>
                </c:pt>
                <c:pt idx="509">
                  <c:v>0</c:v>
                </c:pt>
                <c:pt idx="510">
                  <c:v>0</c:v>
                </c:pt>
                <c:pt idx="511">
                  <c:v>0</c:v>
                </c:pt>
                <c:pt idx="512">
                  <c:v>0</c:v>
                </c:pt>
                <c:pt idx="513">
                  <c:v>0</c:v>
                </c:pt>
                <c:pt idx="514">
                  <c:v>0</c:v>
                </c:pt>
                <c:pt idx="515">
                  <c:v>0</c:v>
                </c:pt>
                <c:pt idx="516">
                  <c:v>0</c:v>
                </c:pt>
                <c:pt idx="517">
                  <c:v>0</c:v>
                </c:pt>
                <c:pt idx="518">
                  <c:v>0</c:v>
                </c:pt>
                <c:pt idx="519">
                  <c:v>0</c:v>
                </c:pt>
                <c:pt idx="520">
                  <c:v>0</c:v>
                </c:pt>
                <c:pt idx="521">
                  <c:v>0</c:v>
                </c:pt>
                <c:pt idx="522">
                  <c:v>0</c:v>
                </c:pt>
                <c:pt idx="523">
                  <c:v>0</c:v>
                </c:pt>
                <c:pt idx="524">
                  <c:v>0</c:v>
                </c:pt>
                <c:pt idx="525">
                  <c:v>0</c:v>
                </c:pt>
                <c:pt idx="526">
                  <c:v>0</c:v>
                </c:pt>
                <c:pt idx="527">
                  <c:v>0</c:v>
                </c:pt>
                <c:pt idx="528">
                  <c:v>0</c:v>
                </c:pt>
                <c:pt idx="529">
                  <c:v>0</c:v>
                </c:pt>
                <c:pt idx="530">
                  <c:v>0</c:v>
                </c:pt>
                <c:pt idx="531">
                  <c:v>0</c:v>
                </c:pt>
                <c:pt idx="532">
                  <c:v>0</c:v>
                </c:pt>
                <c:pt idx="533">
                  <c:v>0</c:v>
                </c:pt>
                <c:pt idx="534">
                  <c:v>0</c:v>
                </c:pt>
                <c:pt idx="535">
                  <c:v>0</c:v>
                </c:pt>
                <c:pt idx="536">
                  <c:v>0</c:v>
                </c:pt>
                <c:pt idx="537">
                  <c:v>0</c:v>
                </c:pt>
                <c:pt idx="538">
                  <c:v>0</c:v>
                </c:pt>
                <c:pt idx="539">
                  <c:v>0</c:v>
                </c:pt>
                <c:pt idx="540">
                  <c:v>0</c:v>
                </c:pt>
                <c:pt idx="541">
                  <c:v>0</c:v>
                </c:pt>
                <c:pt idx="542">
                  <c:v>0</c:v>
                </c:pt>
                <c:pt idx="543">
                  <c:v>0</c:v>
                </c:pt>
                <c:pt idx="544">
                  <c:v>0</c:v>
                </c:pt>
                <c:pt idx="545">
                  <c:v>0</c:v>
                </c:pt>
                <c:pt idx="546">
                  <c:v>0</c:v>
                </c:pt>
                <c:pt idx="547">
                  <c:v>0</c:v>
                </c:pt>
                <c:pt idx="548">
                  <c:v>0</c:v>
                </c:pt>
                <c:pt idx="549">
                  <c:v>0</c:v>
                </c:pt>
                <c:pt idx="550">
                  <c:v>0</c:v>
                </c:pt>
                <c:pt idx="551">
                  <c:v>0</c:v>
                </c:pt>
                <c:pt idx="552">
                  <c:v>0</c:v>
                </c:pt>
                <c:pt idx="553">
                  <c:v>0</c:v>
                </c:pt>
                <c:pt idx="554">
                  <c:v>0</c:v>
                </c:pt>
                <c:pt idx="555">
                  <c:v>0</c:v>
                </c:pt>
                <c:pt idx="556">
                  <c:v>0</c:v>
                </c:pt>
                <c:pt idx="557">
                  <c:v>0</c:v>
                </c:pt>
                <c:pt idx="558">
                  <c:v>0</c:v>
                </c:pt>
                <c:pt idx="559">
                  <c:v>0</c:v>
                </c:pt>
                <c:pt idx="560">
                  <c:v>0</c:v>
                </c:pt>
                <c:pt idx="561">
                  <c:v>0</c:v>
                </c:pt>
                <c:pt idx="562">
                  <c:v>0</c:v>
                </c:pt>
                <c:pt idx="563">
                  <c:v>0</c:v>
                </c:pt>
                <c:pt idx="564">
                  <c:v>0</c:v>
                </c:pt>
                <c:pt idx="565">
                  <c:v>0</c:v>
                </c:pt>
                <c:pt idx="566">
                  <c:v>0</c:v>
                </c:pt>
                <c:pt idx="567">
                  <c:v>0</c:v>
                </c:pt>
                <c:pt idx="568">
                  <c:v>0</c:v>
                </c:pt>
                <c:pt idx="569">
                  <c:v>0</c:v>
                </c:pt>
                <c:pt idx="570">
                  <c:v>0</c:v>
                </c:pt>
                <c:pt idx="571">
                  <c:v>0</c:v>
                </c:pt>
                <c:pt idx="572">
                  <c:v>0</c:v>
                </c:pt>
                <c:pt idx="573">
                  <c:v>0</c:v>
                </c:pt>
                <c:pt idx="574">
                  <c:v>0</c:v>
                </c:pt>
                <c:pt idx="575">
                  <c:v>0</c:v>
                </c:pt>
                <c:pt idx="576">
                  <c:v>0</c:v>
                </c:pt>
                <c:pt idx="577">
                  <c:v>0</c:v>
                </c:pt>
                <c:pt idx="578">
                  <c:v>0</c:v>
                </c:pt>
                <c:pt idx="579">
                  <c:v>0</c:v>
                </c:pt>
                <c:pt idx="580">
                  <c:v>0</c:v>
                </c:pt>
                <c:pt idx="581">
                  <c:v>0</c:v>
                </c:pt>
                <c:pt idx="582">
                  <c:v>0</c:v>
                </c:pt>
                <c:pt idx="583">
                  <c:v>0</c:v>
                </c:pt>
                <c:pt idx="584">
                  <c:v>0</c:v>
                </c:pt>
                <c:pt idx="585">
                  <c:v>0</c:v>
                </c:pt>
                <c:pt idx="586">
                  <c:v>0</c:v>
                </c:pt>
                <c:pt idx="587">
                  <c:v>0</c:v>
                </c:pt>
                <c:pt idx="588">
                  <c:v>0</c:v>
                </c:pt>
                <c:pt idx="589">
                  <c:v>0</c:v>
                </c:pt>
                <c:pt idx="590">
                  <c:v>0</c:v>
                </c:pt>
                <c:pt idx="591">
                  <c:v>0</c:v>
                </c:pt>
                <c:pt idx="592">
                  <c:v>0</c:v>
                </c:pt>
                <c:pt idx="593">
                  <c:v>0</c:v>
                </c:pt>
                <c:pt idx="594">
                  <c:v>0</c:v>
                </c:pt>
                <c:pt idx="595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A7E-4B34-8F1F-C48E82BF5C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43558399"/>
        <c:axId val="2043558879"/>
      </c:lineChart>
      <c:catAx>
        <c:axId val="20435583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43558879"/>
        <c:crosses val="autoZero"/>
        <c:auto val="1"/>
        <c:lblAlgn val="ctr"/>
        <c:lblOffset val="100"/>
        <c:noMultiLvlLbl val="0"/>
      </c:catAx>
      <c:valAx>
        <c:axId val="20435588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4355839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37FA5-3328-4E1C-AFF1-FDE307A55A4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A37723-60A2-4A5F-A786-3B10A284F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12B30-B520-4610-A329-80457D7D015E}" type="datetimeFigureOut">
              <a:rPr lang="zh-CN" altLang="en-US" smtClean="0"/>
              <a:t>2026/2/27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A83B8C-6552-43C9-94CF-8DC95475258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10" Type="http://schemas.openxmlformats.org/officeDocument/2006/relationships/image" Target="../media/image15.png"/><Relationship Id="rId4" Type="http://schemas.openxmlformats.org/officeDocument/2006/relationships/image" Target="../media/image7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png"/><Relationship Id="rId7" Type="http://schemas.openxmlformats.org/officeDocument/2006/relationships/image" Target="../media/image2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6.png"/><Relationship Id="rId7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6.png"/><Relationship Id="rId7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6.png"/><Relationship Id="rId7" Type="http://schemas.openxmlformats.org/officeDocument/2006/relationships/image" Target="../media/image3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6.png"/><Relationship Id="rId7" Type="http://schemas.openxmlformats.org/officeDocument/2006/relationships/image" Target="../media/image3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image" Target="../media/image6.png"/><Relationship Id="rId7" Type="http://schemas.openxmlformats.org/officeDocument/2006/relationships/chart" Target="../charts/chart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6.png"/><Relationship Id="rId7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4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6.png"/><Relationship Id="rId7" Type="http://schemas.openxmlformats.org/officeDocument/2006/relationships/image" Target="../media/image4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645104"/>
            <a:ext cx="12192000" cy="321289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3145810"/>
            <a:ext cx="12192000" cy="511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10800000">
            <a:off x="-324465" y="3645104"/>
            <a:ext cx="12840929" cy="1059753"/>
          </a:xfrm>
          <a:prstGeom prst="triangle">
            <a:avLst>
              <a:gd name="adj" fmla="val 49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3213510" y="1953928"/>
            <a:ext cx="1146413" cy="114641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213510" y="1953927"/>
            <a:ext cx="11464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01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70090" y="1887378"/>
            <a:ext cx="70149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827883" y="2986066"/>
            <a:ext cx="5105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2026 1.26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740" y="-736009"/>
            <a:ext cx="3920726" cy="277210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91998" y="-2131690"/>
            <a:ext cx="6958694" cy="15014702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15"/>
          <a:stretch/>
        </p:blipFill>
        <p:spPr>
          <a:xfrm>
            <a:off x="4312984" y="4833257"/>
            <a:ext cx="6401043" cy="544026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598" y="4172642"/>
            <a:ext cx="2822398" cy="399232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1429309" y="1908944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现有数据处理流程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468755" y="2370455"/>
            <a:ext cx="94976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目前的航空探地雷达数据处理是由无人机在空中采集数据，降落到地面后，再将数据导出进行处理的。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90320" y="1459847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背景与问题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实现实时传输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1170264" y="3118908"/>
            <a:ext cx="9505950" cy="444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676131" y="3076963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068296" y="3068574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V 形 19"/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429309" y="3512393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存在的问题</a:t>
            </a:r>
          </a:p>
        </p:txBody>
      </p:sp>
      <p:sp>
        <p:nvSpPr>
          <p:cNvPr id="48" name="椭圆 47"/>
          <p:cNvSpPr/>
          <p:nvPr/>
        </p:nvSpPr>
        <p:spPr>
          <a:xfrm>
            <a:off x="10675496" y="4672792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椭圆 48"/>
          <p:cNvSpPr/>
          <p:nvPr/>
        </p:nvSpPr>
        <p:spPr>
          <a:xfrm>
            <a:off x="1068296" y="4672023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箭头: V 形 49"/>
          <p:cNvSpPr/>
          <p:nvPr/>
        </p:nvSpPr>
        <p:spPr>
          <a:xfrm rot="5400000">
            <a:off x="907924" y="3901563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78610" y="3873500"/>
            <a:ext cx="94976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ym typeface="+mn-ea"/>
              </a:rPr>
              <a:t>当前的离线流程无法满足高时效场景，如</a:t>
            </a:r>
            <a:r>
              <a:rPr lang="zh-CN" altLang="en-US" dirty="0"/>
              <a:t>灾害应急处理和军事斗争等应用场景，实时传输数据并成像的功能需要解决。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429309" y="4988694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68755" y="5450205"/>
            <a:ext cx="9497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实现</a:t>
            </a:r>
            <a:r>
              <a:rPr lang="en-US" altLang="zh-CN" dirty="0"/>
              <a:t>“</a:t>
            </a:r>
            <a:r>
              <a:rPr lang="zh-CN" altLang="en-US" dirty="0"/>
              <a:t>采集</a:t>
            </a:r>
            <a:r>
              <a:rPr lang="en-US" altLang="zh-CN" dirty="0"/>
              <a:t>-</a:t>
            </a:r>
            <a:r>
              <a:rPr lang="zh-CN" altLang="en-US" dirty="0"/>
              <a:t>传输</a:t>
            </a:r>
            <a:r>
              <a:rPr lang="en-US" altLang="zh-CN" dirty="0"/>
              <a:t>-</a:t>
            </a:r>
            <a:r>
              <a:rPr lang="zh-CN" altLang="en-US" dirty="0"/>
              <a:t>接收</a:t>
            </a:r>
            <a:r>
              <a:rPr lang="en-US" altLang="zh-CN" dirty="0"/>
              <a:t>-</a:t>
            </a:r>
            <a:r>
              <a:rPr lang="zh-CN" altLang="en-US" dirty="0"/>
              <a:t>重组</a:t>
            </a:r>
            <a:r>
              <a:rPr lang="en-US" altLang="zh-CN" dirty="0"/>
              <a:t>”</a:t>
            </a:r>
            <a:r>
              <a:rPr lang="zh-CN" altLang="en-US" dirty="0"/>
              <a:t>的实时链路，为实时成像奠定基础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1170264" y="6198658"/>
            <a:ext cx="9505950" cy="444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10676131" y="6156713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068296" y="6148324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V 形 19"/>
          <p:cNvSpPr/>
          <p:nvPr/>
        </p:nvSpPr>
        <p:spPr>
          <a:xfrm rot="5400000">
            <a:off x="907924" y="537786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1169629" y="4733713"/>
            <a:ext cx="9505950" cy="444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90320" y="1459847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难点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内网穿透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/>
          <p:cNvSpPr/>
          <p:nvPr/>
        </p:nvSpPr>
        <p:spPr>
          <a:xfrm rot="5400000">
            <a:off x="475090" y="1652280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094943" y="1654180"/>
            <a:ext cx="153687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背景信息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315545" y="2346175"/>
            <a:ext cx="34048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在远程通信中，若不是设备间直接建立无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NAT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隔离的专属通信信道，解决内网穿透问题是实现数据传输的基础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嵌入式主机通过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Quectel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移动通信模块获取的是运营商私网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，而地面站也往往处于内网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，外部无法主动访问，必须引入一个公网可达节点作为中转入口（云服务器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网关）。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49D1136-C7E6-4C88-3B54-B739B34721D7}"/>
              </a:ext>
            </a:extLst>
          </p:cNvPr>
          <p:cNvSpPr txBox="1"/>
          <p:nvPr/>
        </p:nvSpPr>
        <p:spPr>
          <a:xfrm>
            <a:off x="8232306" y="1661697"/>
            <a:ext cx="153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如何实现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67B3636-EAF9-A2C5-418A-9995FDFABFF0}"/>
              </a:ext>
            </a:extLst>
          </p:cNvPr>
          <p:cNvSpPr txBox="1"/>
          <p:nvPr/>
        </p:nvSpPr>
        <p:spPr>
          <a:xfrm>
            <a:off x="8143640" y="2368358"/>
            <a:ext cx="34048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是一个专注于内网穿透的高性能反向代理应用，支持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HTTPS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等多种协议。它可以将内网服务通过具有公网 </a:t>
            </a:r>
            <a:r>
              <a:rPr lang="en-US" altLang="zh-CN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lang="zh-CN" altLang="en-US" b="0" i="0" dirty="0">
                <a:solidFill>
                  <a:srgbClr val="191B1F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的节点暴露给外网，实现安全、便捷的远程访问。</a:t>
            </a:r>
            <a:r>
              <a:rPr lang="zh-CN" altLang="en-US" dirty="0">
                <a:solidFill>
                  <a:srgbClr val="191B1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配置简单、性能高、安全性好的优点。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latinLnBrk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frps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服务端（外网使用）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latinLnBrk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frpc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客户端（内网使用）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46F04820-4F36-C92A-AD15-817A5EF9703C}"/>
              </a:ext>
            </a:extLst>
          </p:cNvPr>
          <p:cNvSpPr txBox="1"/>
          <p:nvPr/>
        </p:nvSpPr>
        <p:spPr>
          <a:xfrm>
            <a:off x="4354685" y="1757239"/>
            <a:ext cx="153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内网穿透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44106A34-316C-F423-B34E-8F2E7A6F0EE6}"/>
              </a:ext>
            </a:extLst>
          </p:cNvPr>
          <p:cNvSpPr txBox="1"/>
          <p:nvPr/>
        </p:nvSpPr>
        <p:spPr>
          <a:xfrm>
            <a:off x="4266019" y="2463900"/>
            <a:ext cx="340483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/>
            <a:r>
              <a:rPr lang="zh-CN" altLang="en-US" b="0" i="0" dirty="0"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内网穿透是一种使外部网络能够访问位于私有网络（即局域网）内的服务的技术。这项技术的核心在于通过特定的方式绕过防火墙或路由器的限制，使得公网可以连接到内网中的设备和服务</a:t>
            </a:r>
            <a:r>
              <a:rPr lang="zh-CN" altLang="en-US" dirty="0">
                <a:solidFill>
                  <a:srgbClr val="574FF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5" name="图片 44">
            <a:extLst>
              <a:ext uri="{FF2B5EF4-FFF2-40B4-BE49-F238E27FC236}">
                <a16:creationId xmlns:a16="http://schemas.microsoft.com/office/drawing/2014/main" id="{AE36760C-BE4C-8009-749D-D86AB45EE29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5211" y="1586007"/>
            <a:ext cx="11481577" cy="4861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986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90320" y="1459847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筹备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华为弹性云服务器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pic>
        <p:nvPicPr>
          <p:cNvPr id="23" name="图片 22" descr="电脑软件截图&#10;&#10;AI 生成的内容可能不正确。">
            <a:extLst>
              <a:ext uri="{FF2B5EF4-FFF2-40B4-BE49-F238E27FC236}">
                <a16:creationId xmlns:a16="http://schemas.microsoft.com/office/drawing/2014/main" id="{12CCBC2F-5773-3F5D-DB19-BAA03BC4FF54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3779" y="1942483"/>
            <a:ext cx="8402144" cy="4263627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5D67FC86-0F90-D718-1C4E-EBB6B8F69C49}"/>
              </a:ext>
            </a:extLst>
          </p:cNvPr>
          <p:cNvSpPr txBox="1"/>
          <p:nvPr/>
        </p:nvSpPr>
        <p:spPr>
          <a:xfrm>
            <a:off x="340373" y="1876854"/>
            <a:ext cx="2303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租用云服务器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F9A4FC1-4F80-E076-402E-9F77318EEE36}"/>
              </a:ext>
            </a:extLst>
          </p:cNvPr>
          <p:cNvSpPr txBox="1"/>
          <p:nvPr/>
        </p:nvSpPr>
        <p:spPr>
          <a:xfrm>
            <a:off x="143362" y="2740371"/>
            <a:ext cx="3404831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若要采用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frp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实现内网穿透，必须有公网可访问的服务端（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frps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，租用华为云服务器用以运行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服务端。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latinLnBrk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配置如下：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latinLnBrk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云厂商：华为云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ECS</a:t>
            </a:r>
          </a:p>
          <a:p>
            <a:pPr algn="just" latinLnBrk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公网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IP(EIP)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101.245.88.55</a:t>
            </a:r>
          </a:p>
          <a:p>
            <a:pPr algn="just" latinLnBrk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 22.04.5 LTS x86_64</a:t>
            </a:r>
          </a:p>
          <a:p>
            <a:pPr algn="just" latinLnBrk="1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frps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监听：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latinLnBrk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控制通道：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7000/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latinLnBrk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业务端口：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9000/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udp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44430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90320" y="1557821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sp>
        <p:nvSpPr>
          <p:cNvPr id="5" name="矩形 4"/>
          <p:cNvSpPr/>
          <p:nvPr/>
        </p:nvSpPr>
        <p:spPr>
          <a:xfrm>
            <a:off x="1229360" y="931861"/>
            <a:ext cx="81280" cy="116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0834" y="-19685"/>
            <a:ext cx="1296364" cy="1833727"/>
          </a:xfrm>
          <a:prstGeom prst="rect">
            <a:avLst/>
          </a:prstGeom>
        </p:spPr>
      </p:pic>
      <p:sp>
        <p:nvSpPr>
          <p:cNvPr id="11" name="箭头: 五边形 10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1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箭头: V 形 12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箭头: V 形 16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2997" y="461745"/>
            <a:ext cx="5393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sp>
        <p:nvSpPr>
          <p:cNvPr id="19" name="直角三角形 18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76057" y="1165950"/>
            <a:ext cx="5544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实时传输实现流程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90907"/>
            <a:ext cx="891058" cy="126041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1575"/>
            <a:ext cx="1057173" cy="1495387"/>
          </a:xfrm>
          <a:prstGeom prst="rect">
            <a:avLst/>
          </a:prstGeom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CD527A0E-FCC9-D047-BD82-6C6648B9F35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021" y="1762117"/>
            <a:ext cx="12192000" cy="356049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012" y="3329946"/>
            <a:ext cx="3594059" cy="508385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5413" y="446424"/>
            <a:ext cx="5491987" cy="7768505"/>
          </a:xfrm>
          <a:prstGeom prst="rect">
            <a:avLst/>
          </a:prstGeom>
        </p:spPr>
      </p:pic>
      <p:sp>
        <p:nvSpPr>
          <p:cNvPr id="42" name="箭头: 五边形 41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V 形 42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箭头: V 形 43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箭头: V 形 44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2997" y="461745"/>
            <a:ext cx="5393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验证效果</a:t>
            </a:r>
          </a:p>
        </p:txBody>
      </p:sp>
      <p:sp>
        <p:nvSpPr>
          <p:cNvPr id="47" name="直角三角形 46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76057" y="1165950"/>
            <a:ext cx="5544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实时传输数据后绘制</a:t>
            </a:r>
            <a:r>
              <a:rPr lang="en-US" altLang="zh-CN" sz="2000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BScan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90907"/>
            <a:ext cx="891058" cy="1260416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36D5253-3646-F9D5-9B47-F013043706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5586" y="1267467"/>
            <a:ext cx="3845448" cy="5687835"/>
          </a:xfrm>
          <a:prstGeom prst="rect">
            <a:avLst/>
          </a:prstGeom>
        </p:spPr>
      </p:pic>
      <p:pic>
        <p:nvPicPr>
          <p:cNvPr id="4097" name="Picture 1">
            <a:extLst>
              <a:ext uri="{FF2B5EF4-FFF2-40B4-BE49-F238E27FC236}">
                <a16:creationId xmlns:a16="http://schemas.microsoft.com/office/drawing/2014/main" id="{90407E60-2AA4-948B-79E1-C1D8C2DAA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879349"/>
            <a:ext cx="8355586" cy="5013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D5D53B1-4FAC-6FD3-0AF8-D00878C68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9" y="1876764"/>
            <a:ext cx="842658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37465" y="-38100"/>
            <a:ext cx="12302490" cy="689483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等腰三角形 1"/>
          <p:cNvSpPr/>
          <p:nvPr/>
        </p:nvSpPr>
        <p:spPr>
          <a:xfrm rot="5400000">
            <a:off x="1414460" y="1626715"/>
            <a:ext cx="10302766" cy="3604570"/>
          </a:xfrm>
          <a:prstGeom prst="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" name="等腰三角形 2"/>
          <p:cNvSpPr/>
          <p:nvPr/>
        </p:nvSpPr>
        <p:spPr>
          <a:xfrm rot="5400000">
            <a:off x="676035" y="1606932"/>
            <a:ext cx="10302766" cy="3604570"/>
          </a:xfrm>
          <a:prstGeom prst="triangl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" name="等腰三角形 3"/>
          <p:cNvSpPr/>
          <p:nvPr/>
        </p:nvSpPr>
        <p:spPr>
          <a:xfrm rot="5400000">
            <a:off x="23162" y="1616824"/>
            <a:ext cx="10302766" cy="3604570"/>
          </a:xfrm>
          <a:prstGeom prst="triangle">
            <a:avLst/>
          </a:prstGeom>
          <a:solidFill>
            <a:schemeClr val="bg1"/>
          </a:solidFill>
          <a:ln>
            <a:noFill/>
          </a:ln>
          <a:effectLst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 rot="10800000">
            <a:off x="-167005" y="-149860"/>
            <a:ext cx="4191635" cy="70084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598092" y="1935681"/>
            <a:ext cx="507428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96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谢谢观看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4963" y="3509622"/>
            <a:ext cx="6952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Thank you</a:t>
            </a:r>
            <a:r>
              <a:rPr lang="zh-CN" altLang="en-US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for</a:t>
            </a:r>
            <a:r>
              <a:rPr lang="zh-CN" altLang="en-US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  <a:r>
              <a:rPr lang="en-US" altLang="zh-CN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watching</a:t>
            </a:r>
            <a:r>
              <a:rPr lang="zh-CN" altLang="en-US" sz="4800" dirty="0">
                <a:solidFill>
                  <a:schemeClr val="accent1">
                    <a:lumMod val="50000"/>
                  </a:schemeClr>
                </a:solidFill>
                <a:latin typeface="+mn-ea"/>
              </a:rPr>
              <a:t> </a:t>
            </a:r>
          </a:p>
        </p:txBody>
      </p:sp>
      <p:pic>
        <p:nvPicPr>
          <p:cNvPr id="25" name="图片 2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3756" y="-849874"/>
            <a:ext cx="4161137" cy="2942086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566" y="108020"/>
            <a:ext cx="7474443" cy="1057271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90880" y="6355715"/>
            <a:ext cx="3668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rgbClr val="203864"/>
                </a:solidFill>
              </a:rPr>
              <a:t>PPT</a:t>
            </a:r>
            <a:r>
              <a:rPr lang="zh-CN" altLang="en-US" sz="1600">
                <a:solidFill>
                  <a:srgbClr val="203864"/>
                </a:solidFill>
              </a:rPr>
              <a:t>设计</a:t>
            </a:r>
            <a:r>
              <a:rPr lang="en-US" altLang="zh-CN" sz="1600">
                <a:solidFill>
                  <a:srgbClr val="203864"/>
                </a:solidFill>
              </a:rPr>
              <a:t> </a:t>
            </a:r>
            <a:r>
              <a:rPr lang="zh-CN" altLang="en-US" sz="1600">
                <a:solidFill>
                  <a:srgbClr val="203864"/>
                </a:solidFill>
              </a:rPr>
              <a:t>：向映妮</a:t>
            </a:r>
            <a:r>
              <a:rPr lang="en-US" altLang="zh-CN" sz="1600">
                <a:solidFill>
                  <a:srgbClr val="203864"/>
                </a:solidFill>
              </a:rPr>
              <a:t>   </a:t>
            </a:r>
            <a:r>
              <a:rPr lang="zh-CN" altLang="en-US" sz="1600">
                <a:solidFill>
                  <a:srgbClr val="203864"/>
                </a:solidFill>
              </a:rPr>
              <a:t>指导老师：张艳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645104"/>
            <a:ext cx="12192000" cy="321289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3145810"/>
            <a:ext cx="12192000" cy="511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10800000">
            <a:off x="-324465" y="3645104"/>
            <a:ext cx="12840929" cy="1059753"/>
          </a:xfrm>
          <a:prstGeom prst="triangle">
            <a:avLst>
              <a:gd name="adj" fmla="val 49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3213510" y="1953928"/>
            <a:ext cx="1146413" cy="114641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213510" y="1953927"/>
            <a:ext cx="11464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02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70090" y="1887378"/>
            <a:ext cx="70149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控制流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827883" y="2986066"/>
            <a:ext cx="5105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2026 2.1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740" y="-736009"/>
            <a:ext cx="3920726" cy="277210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466" t="46621" r="-31392" b="-31472"/>
          <a:stretch/>
        </p:blipFill>
        <p:spPr>
          <a:xfrm>
            <a:off x="-2213373" y="4926776"/>
            <a:ext cx="10105002" cy="1171952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15"/>
          <a:stretch/>
        </p:blipFill>
        <p:spPr>
          <a:xfrm>
            <a:off x="4312984" y="4833257"/>
            <a:ext cx="6401043" cy="544026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598" y="4172642"/>
            <a:ext cx="2822398" cy="39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59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1429309" y="1908944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上次布置的任务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90320" y="1459847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任务安排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实现控制流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19" name="椭圆 18"/>
          <p:cNvSpPr/>
          <p:nvPr/>
        </p:nvSpPr>
        <p:spPr>
          <a:xfrm>
            <a:off x="1068296" y="3068574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V 形 19"/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29309" y="4988694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68755" y="5450205"/>
            <a:ext cx="9497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完成控制流传输的</a:t>
            </a:r>
            <a:r>
              <a:rPr lang="en-US" altLang="zh-CN" dirty="0"/>
              <a:t>DEMO  2.</a:t>
            </a:r>
            <a:r>
              <a:rPr lang="zh-CN" altLang="en-US" dirty="0"/>
              <a:t>测量无人机端到地面端延时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1170264" y="6198658"/>
            <a:ext cx="9505950" cy="444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10676131" y="6156713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068296" y="6148324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V 形 19"/>
          <p:cNvSpPr/>
          <p:nvPr/>
        </p:nvSpPr>
        <p:spPr>
          <a:xfrm rot="5400000">
            <a:off x="907924" y="537786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0FF31C1-F9F9-C363-B6EE-1424BEBB77D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60330" y="2468223"/>
            <a:ext cx="9311629" cy="2481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905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90320" y="1557821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sp>
        <p:nvSpPr>
          <p:cNvPr id="5" name="矩形 4"/>
          <p:cNvSpPr/>
          <p:nvPr/>
        </p:nvSpPr>
        <p:spPr>
          <a:xfrm>
            <a:off x="1229360" y="931861"/>
            <a:ext cx="81280" cy="1168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0834" y="-19685"/>
            <a:ext cx="1296364" cy="1833727"/>
          </a:xfrm>
          <a:prstGeom prst="rect">
            <a:avLst/>
          </a:prstGeom>
        </p:spPr>
      </p:pic>
      <p:sp>
        <p:nvSpPr>
          <p:cNvPr id="11" name="箭头: 五边形 10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V 形 11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3" name="箭头: V 形 12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箭头: V 形 16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52997" y="461745"/>
            <a:ext cx="5393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sp>
        <p:nvSpPr>
          <p:cNvPr id="19" name="直角三角形 18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776057" y="1165950"/>
            <a:ext cx="5544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实时传输实现流程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90907"/>
            <a:ext cx="891058" cy="1260416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1575"/>
            <a:ext cx="1057173" cy="149538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AD60B28-3894-4CC8-892D-6BE7671B3FB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27021" y="1850688"/>
            <a:ext cx="12192000" cy="432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008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012" y="3329946"/>
            <a:ext cx="3594059" cy="508385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5413" y="446424"/>
            <a:ext cx="5491987" cy="7768505"/>
          </a:xfrm>
          <a:prstGeom prst="rect">
            <a:avLst/>
          </a:prstGeom>
        </p:spPr>
      </p:pic>
      <p:sp>
        <p:nvSpPr>
          <p:cNvPr id="42" name="箭头: 五边形 41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V 形 42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箭头: V 形 43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箭头: V 形 44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2997" y="461745"/>
            <a:ext cx="5393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验证效果</a:t>
            </a:r>
          </a:p>
        </p:txBody>
      </p:sp>
      <p:sp>
        <p:nvSpPr>
          <p:cNvPr id="47" name="直角三角形 46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90907"/>
            <a:ext cx="891058" cy="1260416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D5D53B1-4FAC-6FD3-0AF8-D00878C68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9" y="1876764"/>
            <a:ext cx="842658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410DC2-33C4-5A0C-0517-EA8B985667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039" y="2030887"/>
            <a:ext cx="9140465" cy="390241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28997B3-6AFF-3B9F-05B1-60047AD822E4}"/>
              </a:ext>
            </a:extLst>
          </p:cNvPr>
          <p:cNvSpPr txBox="1"/>
          <p:nvPr/>
        </p:nvSpPr>
        <p:spPr>
          <a:xfrm>
            <a:off x="776057" y="1165950"/>
            <a:ext cx="5544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无人机端：收到控制流指令</a:t>
            </a:r>
          </a:p>
        </p:txBody>
      </p:sp>
    </p:spTree>
    <p:extLst>
      <p:ext uri="{BB962C8B-B14F-4D97-AF65-F5344CB8AC3E}">
        <p14:creationId xmlns:p14="http://schemas.microsoft.com/office/powerpoint/2010/main" val="2520820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012" y="3329946"/>
            <a:ext cx="3594059" cy="508385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5413" y="446424"/>
            <a:ext cx="5491987" cy="7768505"/>
          </a:xfrm>
          <a:prstGeom prst="rect">
            <a:avLst/>
          </a:prstGeom>
        </p:spPr>
      </p:pic>
      <p:sp>
        <p:nvSpPr>
          <p:cNvPr id="42" name="箭头: 五边形 41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V 形 42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箭头: V 形 43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箭头: V 形 44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2997" y="461745"/>
            <a:ext cx="5393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验证效果</a:t>
            </a:r>
          </a:p>
        </p:txBody>
      </p:sp>
      <p:sp>
        <p:nvSpPr>
          <p:cNvPr id="47" name="直角三角形 46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/>
        </p:nvSpPr>
        <p:spPr>
          <a:xfrm>
            <a:off x="776057" y="1165950"/>
            <a:ext cx="5544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地面端：发送控制流后接收到数据</a:t>
            </a:r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90907"/>
            <a:ext cx="891058" cy="1260416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D5D53B1-4FAC-6FD3-0AF8-D00878C68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039" y="1876764"/>
            <a:ext cx="842658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90BE9EB-7725-6E4A-4EF9-4ACA4A0D877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282" y="1545812"/>
            <a:ext cx="10638095" cy="5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0701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90320" y="1459847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延迟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30" name="文本框 29">
            <a:extLst>
              <a:ext uri="{FF2B5EF4-FFF2-40B4-BE49-F238E27FC236}">
                <a16:creationId xmlns:a16="http://schemas.microsoft.com/office/drawing/2014/main" id="{5D67FC86-0F90-D718-1C4E-EBB6B8F69C49}"/>
              </a:ext>
            </a:extLst>
          </p:cNvPr>
          <p:cNvSpPr txBox="1"/>
          <p:nvPr/>
        </p:nvSpPr>
        <p:spPr>
          <a:xfrm>
            <a:off x="340373" y="1876854"/>
            <a:ext cx="2303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计算方法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8F9A4FC1-4F80-E076-402E-9F77318EEE36}"/>
              </a:ext>
            </a:extLst>
          </p:cNvPr>
          <p:cNvSpPr txBox="1"/>
          <p:nvPr/>
        </p:nvSpPr>
        <p:spPr>
          <a:xfrm>
            <a:off x="143362" y="2740371"/>
            <a:ext cx="340483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在发送数据时为每个数据包加入时间戳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latinLnBrk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接收机收集数据后将“发送机时间戳”和“接收机当前时间”相减得到延迟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latinLnBrk="1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用两边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offset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日志估出两机差值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F0868F53-0AA1-FC08-BF15-B2A83DCC21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2519" y="2322510"/>
            <a:ext cx="7519975" cy="304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85148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3645104"/>
            <a:ext cx="12192000" cy="321289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0" y="3145810"/>
            <a:ext cx="12192000" cy="511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/>
          <p:cNvSpPr/>
          <p:nvPr/>
        </p:nvSpPr>
        <p:spPr>
          <a:xfrm rot="10800000">
            <a:off x="-324465" y="3645104"/>
            <a:ext cx="12840929" cy="1059753"/>
          </a:xfrm>
          <a:prstGeom prst="triangle">
            <a:avLst>
              <a:gd name="adj" fmla="val 49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/>
          <p:cNvSpPr/>
          <p:nvPr/>
        </p:nvSpPr>
        <p:spPr>
          <a:xfrm>
            <a:off x="3213510" y="1953928"/>
            <a:ext cx="1146413" cy="114641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213510" y="1953927"/>
            <a:ext cx="11464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03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770090" y="1887378"/>
            <a:ext cx="70149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延时与数据处理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4827883" y="2986066"/>
            <a:ext cx="510506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2026 2.10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740" y="-736009"/>
            <a:ext cx="3920726" cy="2772106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466" t="46621" r="-31392" b="-31472"/>
          <a:stretch/>
        </p:blipFill>
        <p:spPr>
          <a:xfrm>
            <a:off x="-2213373" y="4926776"/>
            <a:ext cx="10105002" cy="11719527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15"/>
          <a:stretch/>
        </p:blipFill>
        <p:spPr>
          <a:xfrm>
            <a:off x="4312984" y="4833257"/>
            <a:ext cx="6401043" cy="544026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598" y="4172642"/>
            <a:ext cx="2822398" cy="39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211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1429309" y="1908944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上次布置的任务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90320" y="1459847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任务安排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分工</a:t>
            </a: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19" name="椭圆 18"/>
          <p:cNvSpPr/>
          <p:nvPr/>
        </p:nvSpPr>
        <p:spPr>
          <a:xfrm>
            <a:off x="1068296" y="3068574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V 形 19"/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429309" y="4988694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1468755" y="5450205"/>
            <a:ext cx="9497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测量不同大小包体的延迟  </a:t>
            </a:r>
            <a:r>
              <a:rPr lang="en-US" altLang="zh-CN" dirty="0"/>
              <a:t>2.</a:t>
            </a:r>
            <a:r>
              <a:rPr lang="zh-CN" altLang="en-US" dirty="0"/>
              <a:t>对信号处理方法的实现与认识</a:t>
            </a:r>
          </a:p>
        </p:txBody>
      </p:sp>
      <p:cxnSp>
        <p:nvCxnSpPr>
          <p:cNvPr id="12" name="直接连接符 11"/>
          <p:cNvCxnSpPr/>
          <p:nvPr/>
        </p:nvCxnSpPr>
        <p:spPr>
          <a:xfrm>
            <a:off x="1170264" y="6198658"/>
            <a:ext cx="9505950" cy="444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/>
          <p:cNvSpPr/>
          <p:nvPr/>
        </p:nvSpPr>
        <p:spPr>
          <a:xfrm>
            <a:off x="10676131" y="6156713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1068296" y="6148324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V 形 19"/>
          <p:cNvSpPr/>
          <p:nvPr/>
        </p:nvSpPr>
        <p:spPr>
          <a:xfrm rot="5400000">
            <a:off x="907924" y="537786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A949DF3-7D39-95F0-6965-92BE6B98906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76"/>
          <a:stretch/>
        </p:blipFill>
        <p:spPr>
          <a:xfrm>
            <a:off x="1429309" y="2393918"/>
            <a:ext cx="10559969" cy="2492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883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图片 31"/>
          <p:cNvPicPr>
            <a:picLocks noChangeAspect="1"/>
          </p:cNvPicPr>
          <p:nvPr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9012" y="3329946"/>
            <a:ext cx="3594059" cy="5083854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55413" y="446424"/>
            <a:ext cx="5491987" cy="7768505"/>
          </a:xfrm>
          <a:prstGeom prst="rect">
            <a:avLst/>
          </a:prstGeom>
        </p:spPr>
      </p:pic>
      <p:sp>
        <p:nvSpPr>
          <p:cNvPr id="42" name="箭头: 五边形 41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箭头: V 形 42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箭头: V 形 43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5" name="箭头: V 形 44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752997" y="461745"/>
            <a:ext cx="53938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延迟复测结果</a:t>
            </a:r>
          </a:p>
        </p:txBody>
      </p:sp>
      <p:sp>
        <p:nvSpPr>
          <p:cNvPr id="47" name="直角三角形 46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90907"/>
            <a:ext cx="891058" cy="1260416"/>
          </a:xfrm>
          <a:prstGeom prst="rect">
            <a:avLst/>
          </a:prstGeom>
        </p:spPr>
      </p:pic>
      <p:pic>
        <p:nvPicPr>
          <p:cNvPr id="50" name="图片 4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028997B3-6AFF-3B9F-05B1-60047AD822E4}"/>
              </a:ext>
            </a:extLst>
          </p:cNvPr>
          <p:cNvSpPr txBox="1"/>
          <p:nvPr/>
        </p:nvSpPr>
        <p:spPr>
          <a:xfrm>
            <a:off x="776057" y="1165950"/>
            <a:ext cx="554427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发送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1kb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64kb……100MB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8C8DF3D-534A-A0D2-1C51-A3C1F9424849}"/>
              </a:ext>
            </a:extLst>
          </p:cNvPr>
          <p:cNvSpPr txBox="1"/>
          <p:nvPr/>
        </p:nvSpPr>
        <p:spPr>
          <a:xfrm>
            <a:off x="602282" y="5757829"/>
            <a:ext cx="105663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结论：</a:t>
            </a:r>
            <a:r>
              <a:rPr lang="zh-CN" altLang="en-US" sz="2400" dirty="0">
                <a:effectLst/>
              </a:rPr>
              <a:t>大数据量下，末片到达时间主要由</a:t>
            </a:r>
            <a:r>
              <a:rPr lang="zh-CN" altLang="en-US" sz="2400" b="1" dirty="0">
                <a:effectLst/>
              </a:rPr>
              <a:t>持续传输</a:t>
            </a:r>
            <a:r>
              <a:rPr lang="en-US" altLang="zh-CN" sz="2400" b="1" dirty="0">
                <a:effectLst/>
              </a:rPr>
              <a:t>/</a:t>
            </a:r>
            <a:r>
              <a:rPr lang="zh-CN" altLang="en-US" sz="2400" b="1" dirty="0">
                <a:effectLst/>
              </a:rPr>
              <a:t>排队</a:t>
            </a:r>
            <a:r>
              <a:rPr lang="en-US" altLang="zh-CN" sz="2400" b="1" dirty="0">
                <a:effectLst/>
              </a:rPr>
              <a:t>/</a:t>
            </a:r>
            <a:r>
              <a:rPr lang="zh-CN" altLang="en-US" sz="2400" b="1" dirty="0">
                <a:effectLst/>
              </a:rPr>
              <a:t>拥塞控制与转发能力</a:t>
            </a:r>
            <a:r>
              <a:rPr lang="zh-CN" altLang="en-US" sz="2400" dirty="0">
                <a:effectLst/>
              </a:rPr>
              <a:t>决定；首片单向仍保持在几十毫秒量级。</a:t>
            </a:r>
            <a:endParaRPr lang="zh-CN" altLang="en-US" sz="2400" dirty="0">
              <a:solidFill>
                <a:schemeClr val="accent1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4D20157F-1721-A2B7-5075-DF38C9E4E9C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2282" y="1702334"/>
            <a:ext cx="10310400" cy="4010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4945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1429309" y="1908944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低频漂移矫正</a:t>
            </a:r>
          </a:p>
        </p:txBody>
      </p:sp>
      <p:sp>
        <p:nvSpPr>
          <p:cNvPr id="43" name="文本框 42"/>
          <p:cNvSpPr txBox="1"/>
          <p:nvPr/>
        </p:nvSpPr>
        <p:spPr>
          <a:xfrm>
            <a:off x="1468755" y="2370455"/>
            <a:ext cx="9497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通过沿时间轴的移动平均滤波去除每个道次中的低频成分，起到低通滤波作用（去直流）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290320" y="1459847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dewow.py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cxnSp>
        <p:nvCxnSpPr>
          <p:cNvPr id="14" name="直接连接符 13"/>
          <p:cNvCxnSpPr/>
          <p:nvPr/>
        </p:nvCxnSpPr>
        <p:spPr>
          <a:xfrm>
            <a:off x="1169546" y="3076963"/>
            <a:ext cx="9505950" cy="444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椭圆 17"/>
          <p:cNvSpPr/>
          <p:nvPr/>
        </p:nvSpPr>
        <p:spPr>
          <a:xfrm>
            <a:off x="10676131" y="3076963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椭圆 18"/>
          <p:cNvSpPr/>
          <p:nvPr/>
        </p:nvSpPr>
        <p:spPr>
          <a:xfrm>
            <a:off x="1068296" y="3068574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V 形 19"/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E5E7D1E5-1FCE-B16D-A90B-894D92F47B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5848" y="3262469"/>
            <a:ext cx="2991267" cy="101931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CE076886-EE90-4D40-229A-EE9EB990B418}"/>
              </a:ext>
            </a:extLst>
          </p:cNvPr>
          <p:cNvSpPr txBox="1"/>
          <p:nvPr/>
        </p:nvSpPr>
        <p:spPr>
          <a:xfrm>
            <a:off x="1429309" y="3217243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基本参数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85F646F-4DFD-DAC8-0D57-41E863045427}"/>
              </a:ext>
            </a:extLst>
          </p:cNvPr>
          <p:cNvSpPr txBox="1"/>
          <p:nvPr/>
        </p:nvSpPr>
        <p:spPr>
          <a:xfrm>
            <a:off x="1468755" y="3772126"/>
            <a:ext cx="60336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（窗大小，默认值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halfwid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= (window / 2.0) 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处理结果：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原始值 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该点为中心上下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halfwid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（包括该点，共计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点的均值）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51608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725255" y="1599615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创造数据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dewow.py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/>
          <p:cNvSpPr/>
          <p:nvPr/>
        </p:nvSpPr>
        <p:spPr>
          <a:xfrm rot="5400000">
            <a:off x="251164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5874D40-7910-6DD6-03FC-DCFFE97A21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122" y="-533359"/>
            <a:ext cx="76231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2AC299E-9DD1-AA93-00E2-593271E084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63191" y="1352322"/>
            <a:ext cx="8028809" cy="55056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9F180106-CC2D-6A77-4058-677130F9D7D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0807"/>
          <a:stretch/>
        </p:blipFill>
        <p:spPr>
          <a:xfrm>
            <a:off x="2185062" y="1384948"/>
            <a:ext cx="1896843" cy="544042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A036F0E-A8F5-3A01-97C5-C1B3414494E5}"/>
              </a:ext>
            </a:extLst>
          </p:cNvPr>
          <p:cNvSpPr txBox="1"/>
          <p:nvPr/>
        </p:nvSpPr>
        <p:spPr>
          <a:xfrm>
            <a:off x="128127" y="2245974"/>
            <a:ext cx="222318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数据包含两个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Ascan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 latinLnBrk="1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分别在其第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行处制造一个简单的波形（单个正弦波形）</a:t>
            </a:r>
          </a:p>
        </p:txBody>
      </p:sp>
    </p:spTree>
    <p:extLst>
      <p:ext uri="{BB962C8B-B14F-4D97-AF65-F5344CB8AC3E}">
        <p14:creationId xmlns:p14="http://schemas.microsoft.com/office/powerpoint/2010/main" val="1245319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725255" y="1599615"/>
            <a:ext cx="22945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原始数据绘图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dewow.py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/>
          <p:cNvSpPr/>
          <p:nvPr/>
        </p:nvSpPr>
        <p:spPr>
          <a:xfrm rot="5400000">
            <a:off x="251164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5874D40-7910-6DD6-03FC-DCFFE97A21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122" y="-533359"/>
            <a:ext cx="76231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49" name="Picture 1">
            <a:extLst>
              <a:ext uri="{FF2B5EF4-FFF2-40B4-BE49-F238E27FC236}">
                <a16:creationId xmlns:a16="http://schemas.microsoft.com/office/drawing/2014/main" id="{542DCBD9-719F-81B1-7F8F-342A82B4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8" y="2044246"/>
            <a:ext cx="6032234" cy="41468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2">
            <a:extLst>
              <a:ext uri="{FF2B5EF4-FFF2-40B4-BE49-F238E27FC236}">
                <a16:creationId xmlns:a16="http://schemas.microsoft.com/office/drawing/2014/main" id="{22B1E8F0-42D7-3885-D9A8-034B56B72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0884"/>
            <a:ext cx="79700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4E6F7D-F4EE-163E-04B6-3D94067ABCB5}"/>
              </a:ext>
            </a:extLst>
          </p:cNvPr>
          <p:cNvSpPr txBox="1"/>
          <p:nvPr/>
        </p:nvSpPr>
        <p:spPr>
          <a:xfrm>
            <a:off x="7224339" y="1499439"/>
            <a:ext cx="2634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低频漂移校正后</a:t>
            </a: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5F949CDC-244D-2C85-7C8D-7FC2E968CCC7}"/>
              </a:ext>
            </a:extLst>
          </p:cNvPr>
          <p:cNvSpPr/>
          <p:nvPr/>
        </p:nvSpPr>
        <p:spPr>
          <a:xfrm rot="5400000">
            <a:off x="6750248" y="1499269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051" name="Picture 3">
            <a:extLst>
              <a:ext uri="{FF2B5EF4-FFF2-40B4-BE49-F238E27FC236}">
                <a16:creationId xmlns:a16="http://schemas.microsoft.com/office/drawing/2014/main" id="{F68653B0-1861-7630-B3EE-F3B329E79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4695" y="2032879"/>
            <a:ext cx="6069747" cy="4158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4">
            <a:extLst>
              <a:ext uri="{FF2B5EF4-FFF2-40B4-BE49-F238E27FC236}">
                <a16:creationId xmlns:a16="http://schemas.microsoft.com/office/drawing/2014/main" id="{582C1994-5355-73EF-9109-6A28F8AB0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330" y="2089550"/>
            <a:ext cx="6599074" cy="5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20582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725255" y="1599615"/>
            <a:ext cx="3759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原始数据绘图局部放大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dewow.py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/>
          <p:cNvSpPr/>
          <p:nvPr/>
        </p:nvSpPr>
        <p:spPr>
          <a:xfrm rot="5400000">
            <a:off x="251164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5874D40-7910-6DD6-03FC-DCFFE97A21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122" y="-533359"/>
            <a:ext cx="76231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2B1E8F0-42D7-3885-D9A8-034B56B72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0884"/>
            <a:ext cx="79700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4E6F7D-F4EE-163E-04B6-3D94067ABCB5}"/>
              </a:ext>
            </a:extLst>
          </p:cNvPr>
          <p:cNvSpPr txBox="1"/>
          <p:nvPr/>
        </p:nvSpPr>
        <p:spPr>
          <a:xfrm>
            <a:off x="7224339" y="1499439"/>
            <a:ext cx="3748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低频漂移校正后局部放大</a:t>
            </a: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5F949CDC-244D-2C85-7C8D-7FC2E968CCC7}"/>
              </a:ext>
            </a:extLst>
          </p:cNvPr>
          <p:cNvSpPr/>
          <p:nvPr/>
        </p:nvSpPr>
        <p:spPr>
          <a:xfrm rot="5400000">
            <a:off x="6750248" y="1499269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82C1994-5355-73EF-9109-6A28F8AB0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330" y="2089550"/>
            <a:ext cx="6599074" cy="5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073" name="Picture 1">
            <a:extLst>
              <a:ext uri="{FF2B5EF4-FFF2-40B4-BE49-F238E27FC236}">
                <a16:creationId xmlns:a16="http://schemas.microsoft.com/office/drawing/2014/main" id="{C6CF6CDA-2EEF-9BF2-0DAD-C0ED25C55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3406"/>
            <a:ext cx="5544457" cy="47945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94E53644-ED7C-9698-E4A6-144DD2644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022" y="2017687"/>
            <a:ext cx="101119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3075" name="Picture 3">
            <a:extLst>
              <a:ext uri="{FF2B5EF4-FFF2-40B4-BE49-F238E27FC236}">
                <a16:creationId xmlns:a16="http://schemas.microsoft.com/office/drawing/2014/main" id="{D7CC8DE1-850F-6E1E-A3EE-845268B684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" t="2931" r="-195" b="-252"/>
          <a:stretch/>
        </p:blipFill>
        <p:spPr bwMode="auto">
          <a:xfrm>
            <a:off x="5551469" y="2089550"/>
            <a:ext cx="6645265" cy="4722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4">
            <a:extLst>
              <a:ext uri="{FF2B5EF4-FFF2-40B4-BE49-F238E27FC236}">
                <a16:creationId xmlns:a16="http://schemas.microsoft.com/office/drawing/2014/main" id="{EB2FCC0C-8726-BA23-1804-B8F8824C4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5949" y="2063405"/>
            <a:ext cx="8434386" cy="4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74267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/>
          <p:cNvSpPr txBox="1"/>
          <p:nvPr/>
        </p:nvSpPr>
        <p:spPr>
          <a:xfrm>
            <a:off x="725255" y="1599615"/>
            <a:ext cx="11108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左：去低频漂移 右：原始数据，</a:t>
            </a:r>
            <a:r>
              <a:rPr lang="en-US" altLang="zh-CN" sz="2400" dirty="0"/>
              <a:t>window=23</a:t>
            </a:r>
          </a:p>
          <a:p>
            <a:r>
              <a:rPr lang="en-US" altLang="zh-CN" sz="2400" dirty="0"/>
              <a:t>0.5/23 = -0.0217391304347826</a:t>
            </a:r>
            <a:r>
              <a:rPr lang="zh-CN" altLang="en-US" sz="2400" dirty="0"/>
              <a:t>，</a:t>
            </a:r>
          </a:p>
          <a:p>
            <a:r>
              <a:rPr lang="zh-CN" altLang="en-US" sz="2400" dirty="0"/>
              <a:t>故第</a:t>
            </a:r>
            <a:r>
              <a:rPr lang="en-US" altLang="zh-CN" sz="2400" dirty="0"/>
              <a:t>89</a:t>
            </a:r>
            <a:r>
              <a:rPr lang="zh-CN" altLang="en-US" sz="2400" dirty="0"/>
              <a:t>行（</a:t>
            </a:r>
            <a:r>
              <a:rPr lang="en-US" altLang="zh-CN" sz="2400" dirty="0"/>
              <a:t>100-11</a:t>
            </a:r>
            <a:r>
              <a:rPr lang="zh-CN" altLang="en-US" sz="2400" dirty="0"/>
              <a:t>）数据为 </a:t>
            </a:r>
            <a:r>
              <a:rPr lang="en-US" altLang="zh-CN" sz="2400" dirty="0"/>
              <a:t>0 - 0.0217391304347826= --0.0217391304347826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/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/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/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/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/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dewow.py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/>
          <p:cNvSpPr/>
          <p:nvPr/>
        </p:nvSpPr>
        <p:spPr>
          <a:xfrm rot="5400000">
            <a:off x="251164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95874D40-7910-6DD6-03FC-DCFFE97A2171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122" y="-533359"/>
            <a:ext cx="76231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2B1E8F0-42D7-3885-D9A8-034B56B727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0884"/>
            <a:ext cx="79700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82C1994-5355-73EF-9109-6A28F8AB08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330" y="2089550"/>
            <a:ext cx="6599074" cy="5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94E53644-ED7C-9698-E4A6-144DD2644B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7022" y="2017687"/>
            <a:ext cx="10111985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B2FCC0C-8726-BA23-1804-B8F8824C4A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85949" y="2063405"/>
            <a:ext cx="8434386" cy="48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0266C656-9197-DDF6-8C6A-5679EAD8C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137" y="2408852"/>
            <a:ext cx="12019725" cy="4406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">
            <a:extLst>
              <a:ext uri="{FF2B5EF4-FFF2-40B4-BE49-F238E27FC236}">
                <a16:creationId xmlns:a16="http://schemas.microsoft.com/office/drawing/2014/main" id="{9A0F0ADF-560C-78BE-3987-280522668334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86137" y="1827695"/>
            <a:ext cx="1082705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9992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2DC94-4E6A-3DB8-0808-79754928A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8B2C637-F3DF-D90D-536D-880DE4912F56}"/>
              </a:ext>
            </a:extLst>
          </p:cNvPr>
          <p:cNvSpPr/>
          <p:nvPr/>
        </p:nvSpPr>
        <p:spPr>
          <a:xfrm>
            <a:off x="0" y="3645104"/>
            <a:ext cx="12192000" cy="3212896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98E5E97-19A4-B596-50E5-9634D4035B61}"/>
              </a:ext>
            </a:extLst>
          </p:cNvPr>
          <p:cNvSpPr/>
          <p:nvPr/>
        </p:nvSpPr>
        <p:spPr>
          <a:xfrm>
            <a:off x="0" y="3145810"/>
            <a:ext cx="12192000" cy="5115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等腰三角形 2">
            <a:extLst>
              <a:ext uri="{FF2B5EF4-FFF2-40B4-BE49-F238E27FC236}">
                <a16:creationId xmlns:a16="http://schemas.microsoft.com/office/drawing/2014/main" id="{C2ADDB1F-0B1F-C503-C634-AE3D95B72C7B}"/>
              </a:ext>
            </a:extLst>
          </p:cNvPr>
          <p:cNvSpPr/>
          <p:nvPr/>
        </p:nvSpPr>
        <p:spPr>
          <a:xfrm rot="10800000">
            <a:off x="-324465" y="3645104"/>
            <a:ext cx="12840929" cy="1059753"/>
          </a:xfrm>
          <a:prstGeom prst="triangle">
            <a:avLst>
              <a:gd name="adj" fmla="val 49525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4A9D14EE-6F2E-9D03-16E8-99951674D812}"/>
              </a:ext>
            </a:extLst>
          </p:cNvPr>
          <p:cNvSpPr/>
          <p:nvPr/>
        </p:nvSpPr>
        <p:spPr>
          <a:xfrm>
            <a:off x="3213510" y="1953928"/>
            <a:ext cx="1146413" cy="1146413"/>
          </a:xfrm>
          <a:prstGeom prst="round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B08F2B-4110-EB98-8698-DDF224044FF7}"/>
              </a:ext>
            </a:extLst>
          </p:cNvPr>
          <p:cNvSpPr txBox="1"/>
          <p:nvPr/>
        </p:nvSpPr>
        <p:spPr>
          <a:xfrm>
            <a:off x="3213510" y="1953927"/>
            <a:ext cx="114641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04</a:t>
            </a:r>
            <a:endParaRPr lang="zh-CN" altLang="en-US" sz="6600" dirty="0">
              <a:solidFill>
                <a:schemeClr val="bg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740D37B-996F-16BA-36A7-87355B425CD0}"/>
              </a:ext>
            </a:extLst>
          </p:cNvPr>
          <p:cNvSpPr txBox="1"/>
          <p:nvPr/>
        </p:nvSpPr>
        <p:spPr>
          <a:xfrm>
            <a:off x="4770090" y="1887378"/>
            <a:ext cx="70149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66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处理方法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F9BDC7F-455F-FD11-B83F-47AF1BF4E9B2}"/>
              </a:ext>
            </a:extLst>
          </p:cNvPr>
          <p:cNvSpPr txBox="1"/>
          <p:nvPr/>
        </p:nvSpPr>
        <p:spPr>
          <a:xfrm>
            <a:off x="4827883" y="2986066"/>
            <a:ext cx="51050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2026 2.27</a:t>
            </a:r>
            <a:endParaRPr lang="zh-CN" altLang="en-US" sz="2400" b="1" dirty="0">
              <a:solidFill>
                <a:schemeClr val="accent1">
                  <a:lumMod val="50000"/>
                </a:schemeClr>
              </a:solidFill>
              <a:latin typeface="+mj-ea"/>
              <a:ea typeface="+mj-ea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F55BEDF-9E3F-FC98-FB5A-4BD269EDC9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9740" y="-736009"/>
            <a:ext cx="3920726" cy="277210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1BC7F886-C63C-8F7A-8EE2-96FE894912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6466" t="46621" r="-31392" b="-31472"/>
          <a:stretch/>
        </p:blipFill>
        <p:spPr>
          <a:xfrm>
            <a:off x="-2213373" y="4926776"/>
            <a:ext cx="10105002" cy="11719527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FE59DE4A-7DA0-C6FF-A21F-84062E0D91D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915"/>
          <a:stretch/>
        </p:blipFill>
        <p:spPr>
          <a:xfrm>
            <a:off x="4312984" y="4833257"/>
            <a:ext cx="6401043" cy="5440260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9CB62AB-FA0A-2C5E-0BF2-D23EB0875AC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2598" y="4172642"/>
            <a:ext cx="2822398" cy="39923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16280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04418F-3080-732E-A8F9-43409252E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185451D3-DAC7-BAF8-32BC-100605EC8076}"/>
              </a:ext>
            </a:extLst>
          </p:cNvPr>
          <p:cNvSpPr txBox="1"/>
          <p:nvPr/>
        </p:nvSpPr>
        <p:spPr>
          <a:xfrm>
            <a:off x="1429309" y="1908944"/>
            <a:ext cx="434926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上次布置的任务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1ACE779-7C45-11FA-48F2-A0258269262F}"/>
              </a:ext>
            </a:extLst>
          </p:cNvPr>
          <p:cNvSpPr txBox="1"/>
          <p:nvPr/>
        </p:nvSpPr>
        <p:spPr>
          <a:xfrm>
            <a:off x="1290320" y="1459847"/>
            <a:ext cx="5628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实时传输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0B8EB87-5B4C-64D1-9921-7B51C3AB6C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C8B9C61-2BB6-A00B-1560-3371122CDC9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1228EF80-1E35-283E-5D0D-D4475E100EB2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5CF7AB89-99E7-9086-5C92-848B146A1F18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A73DEB54-12F9-C01F-2866-08BD47A910FE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5618F12B-DA93-A95A-3409-D93ED52B1EAB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B86CE3D2-ADAA-B936-6F0D-AE169AA04180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任务安排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297104E6-7E54-5746-4D3F-A73A514E377F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A649A3E-F302-7E8B-8245-5E639D0B8937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分工</a:t>
            </a: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EA9E1542-A211-E961-B0F7-F3566EB4C3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B3B4EF24-6610-08E6-6EA4-6B9E0FBC61E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EEF19F4-94AF-C3A5-11AC-7E94C68DB4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31095C3-757E-5303-F1AE-24EB926D81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19" name="椭圆 18">
            <a:extLst>
              <a:ext uri="{FF2B5EF4-FFF2-40B4-BE49-F238E27FC236}">
                <a16:creationId xmlns:a16="http://schemas.microsoft.com/office/drawing/2014/main" id="{A3A37F7F-D168-FCCC-118C-CFDE03EA752B}"/>
              </a:ext>
            </a:extLst>
          </p:cNvPr>
          <p:cNvSpPr/>
          <p:nvPr/>
        </p:nvSpPr>
        <p:spPr>
          <a:xfrm>
            <a:off x="1068296" y="3068574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箭头: V 形 19">
            <a:extLst>
              <a:ext uri="{FF2B5EF4-FFF2-40B4-BE49-F238E27FC236}">
                <a16:creationId xmlns:a16="http://schemas.microsoft.com/office/drawing/2014/main" id="{A54D4C54-A484-12D1-C984-4010DF7BC89E}"/>
              </a:ext>
            </a:extLst>
          </p:cNvPr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E20ED9B-B93D-4C50-A061-E7596101ED95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4B5317F1-ECDD-A7AE-2A83-ADEF253FD2EA}"/>
              </a:ext>
            </a:extLst>
          </p:cNvPr>
          <p:cNvSpPr txBox="1"/>
          <p:nvPr/>
        </p:nvSpPr>
        <p:spPr>
          <a:xfrm>
            <a:off x="1429309" y="4988694"/>
            <a:ext cx="908538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目标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856C5DE-A1FA-E66A-3F60-2763ACC6973F}"/>
              </a:ext>
            </a:extLst>
          </p:cNvPr>
          <p:cNvSpPr txBox="1"/>
          <p:nvPr/>
        </p:nvSpPr>
        <p:spPr>
          <a:xfrm>
            <a:off x="1468755" y="5450205"/>
            <a:ext cx="94976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不同方法的意义</a:t>
            </a:r>
            <a:r>
              <a:rPr lang="en-US" altLang="zh-CN" dirty="0"/>
              <a:t>2.</a:t>
            </a:r>
            <a:r>
              <a:rPr lang="zh-CN" altLang="en-US" dirty="0"/>
              <a:t>移动平均滤波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E6904E1-4A10-AFB6-2130-8AF8F5449AEF}"/>
              </a:ext>
            </a:extLst>
          </p:cNvPr>
          <p:cNvCxnSpPr/>
          <p:nvPr/>
        </p:nvCxnSpPr>
        <p:spPr>
          <a:xfrm>
            <a:off x="1170264" y="6198658"/>
            <a:ext cx="9505950" cy="4445"/>
          </a:xfrm>
          <a:prstGeom prst="line">
            <a:avLst/>
          </a:prstGeom>
          <a:ln w="9525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椭圆 12">
            <a:extLst>
              <a:ext uri="{FF2B5EF4-FFF2-40B4-BE49-F238E27FC236}">
                <a16:creationId xmlns:a16="http://schemas.microsoft.com/office/drawing/2014/main" id="{31326833-5F63-B95F-9907-3F02C155118A}"/>
              </a:ext>
            </a:extLst>
          </p:cNvPr>
          <p:cNvSpPr/>
          <p:nvPr/>
        </p:nvSpPr>
        <p:spPr>
          <a:xfrm>
            <a:off x="10676131" y="6156713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1A4AF64B-BF44-083E-1117-38CFFAED2B7E}"/>
              </a:ext>
            </a:extLst>
          </p:cNvPr>
          <p:cNvSpPr/>
          <p:nvPr/>
        </p:nvSpPr>
        <p:spPr>
          <a:xfrm>
            <a:off x="1068296" y="6148324"/>
            <a:ext cx="101968" cy="101968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箭头: V 形 19">
            <a:extLst>
              <a:ext uri="{FF2B5EF4-FFF2-40B4-BE49-F238E27FC236}">
                <a16:creationId xmlns:a16="http://schemas.microsoft.com/office/drawing/2014/main" id="{309F5B20-3CAF-E485-B84A-A7E2C8F0B8DD}"/>
              </a:ext>
            </a:extLst>
          </p:cNvPr>
          <p:cNvSpPr/>
          <p:nvPr/>
        </p:nvSpPr>
        <p:spPr>
          <a:xfrm rot="5400000">
            <a:off x="907924" y="537786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FAA22B8D-CF86-5FC9-A9FD-AA487A4A01E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3590" r="7945"/>
          <a:stretch>
            <a:fillRect/>
          </a:stretch>
        </p:blipFill>
        <p:spPr>
          <a:xfrm>
            <a:off x="1450870" y="2343628"/>
            <a:ext cx="9718409" cy="264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6606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3FA8E-CEB6-D5F3-8BE7-8F278F10B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2B91D805-EFFB-2349-E7EE-0E83317890FE}"/>
              </a:ext>
            </a:extLst>
          </p:cNvPr>
          <p:cNvSpPr txBox="1"/>
          <p:nvPr/>
        </p:nvSpPr>
        <p:spPr>
          <a:xfrm>
            <a:off x="787345" y="1541299"/>
            <a:ext cx="187007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去低频漂移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8BA7F451-F770-7B1B-0130-31AC5797C7EB}"/>
              </a:ext>
            </a:extLst>
          </p:cNvPr>
          <p:cNvSpPr txBox="1"/>
          <p:nvPr/>
        </p:nvSpPr>
        <p:spPr>
          <a:xfrm>
            <a:off x="1468755" y="2370455"/>
            <a:ext cx="9497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处理目标：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数据中的直流偏移和极低频漂移（俗称“嗡嗡声”），这些偏移通常由天线耦合效应、早期到达波（如空气波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地表波）过饱和或仪器漂移引起。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5E912DFF-7EE7-F71D-4984-9434EE1C8F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E46196C-B05C-4D1D-14CD-48FAA6F1EBF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0FDFEECA-710D-7D87-722B-14FF56AF8B9D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54F0848A-82B3-7CF5-0FCB-C4577D9C4A6B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B3198D75-F2B8-CC61-A22C-528DEA271C1C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7C026888-24E3-B091-91D9-9A71CB422BCA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440D187-7012-127F-1B6E-20D6E84DE28F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BDD515FB-218B-051F-05E2-074289232B28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23A1E86-862D-058C-1426-9FF94E83FDBF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dewow.py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599CC03E-B756-B2EA-2FF3-2E71A170AE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454CBFBB-6DF9-B361-0582-CE9971D3ACA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CF09EF0-EE6B-928D-900A-627C02F2F3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4E8A2692-AB4A-136A-F7F8-580D5799D6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DDA32801-7F84-87E6-DF81-2EC161EAB678}"/>
              </a:ext>
            </a:extLst>
          </p:cNvPr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59F575-A04E-C212-8103-8B19D47CB57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FA39E1F-4DBD-256D-F7D2-A15CDD1362F0}"/>
              </a:ext>
            </a:extLst>
          </p:cNvPr>
          <p:cNvSpPr txBox="1"/>
          <p:nvPr/>
        </p:nvSpPr>
        <p:spPr>
          <a:xfrm>
            <a:off x="1458541" y="3338460"/>
            <a:ext cx="39490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信号处理原理：</a:t>
            </a: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用滑动平均实现去低频漂移处理。对每道雷达信号计算滑动窗口内的平均值，然后从原始信号中减去该平均值</a:t>
            </a:r>
            <a:r>
              <a:rPr lang="zh-CN" altLang="en-US" dirty="0"/>
              <a:t>；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C0E4F37B-95CD-3813-1369-1A2264CB0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941" y="33426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9CDE3431-49A3-98E7-61EA-B838DA563724}"/>
              </a:ext>
            </a:extLst>
          </p:cNvPr>
          <p:cNvGrpSpPr/>
          <p:nvPr/>
        </p:nvGrpSpPr>
        <p:grpSpPr>
          <a:xfrm>
            <a:off x="5407606" y="3235888"/>
            <a:ext cx="6339650" cy="1408148"/>
            <a:chOff x="5523941" y="3246973"/>
            <a:chExt cx="6339650" cy="1408148"/>
          </a:xfrm>
        </p:grpSpPr>
        <p:pic>
          <p:nvPicPr>
            <p:cNvPr id="1025" name="Picture 1">
              <a:extLst>
                <a:ext uri="{FF2B5EF4-FFF2-40B4-BE49-F238E27FC236}">
                  <a16:creationId xmlns:a16="http://schemas.microsoft.com/office/drawing/2014/main" id="{BD83ABF4-B13E-29ED-931C-5E7403732B4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23941" y="3294978"/>
              <a:ext cx="6339650" cy="13601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A7D57342-7AD6-A87E-4B2B-F036B51FD8AE}"/>
                </a:ext>
              </a:extLst>
            </p:cNvPr>
            <p:cNvSpPr/>
            <p:nvPr/>
          </p:nvSpPr>
          <p:spPr>
            <a:xfrm>
              <a:off x="9078012" y="3246973"/>
              <a:ext cx="434440" cy="131250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endParaRPr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F72909D7-B100-A460-E0DA-888886ECF28C}"/>
              </a:ext>
            </a:extLst>
          </p:cNvPr>
          <p:cNvSpPr txBox="1"/>
          <p:nvPr/>
        </p:nvSpPr>
        <p:spPr>
          <a:xfrm>
            <a:off x="1458541" y="4813658"/>
            <a:ext cx="98347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去掉低频漂移后，信号基线归零，趋势对有助于使用正负幅度填充增强可视化。这可以避免低频“慢变”后续频谱和图像显示的干扰，使反射事件（如双曲线）振幅特征更加明显，提高信号质量和反射连续性。</a:t>
            </a:r>
          </a:p>
        </p:txBody>
      </p:sp>
    </p:spTree>
    <p:extLst>
      <p:ext uri="{BB962C8B-B14F-4D97-AF65-F5344CB8AC3E}">
        <p14:creationId xmlns:p14="http://schemas.microsoft.com/office/powerpoint/2010/main" val="15904658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322A5-B6F6-0FE7-821E-DEB1C5B00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2AA46F47-B5A0-67BF-2484-4DE29A3BF276}"/>
              </a:ext>
            </a:extLst>
          </p:cNvPr>
          <p:cNvSpPr txBox="1"/>
          <p:nvPr/>
        </p:nvSpPr>
        <p:spPr>
          <a:xfrm>
            <a:off x="725255" y="1599615"/>
            <a:ext cx="22945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原始数据绘图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B650B6C5-ED59-96C2-76F1-D63E23FCBC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3CE080BC-6528-36BF-16BD-7C8AFC2E4F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C3C4B13-EDAF-CBBC-87DC-1F20EC381814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4D97AEA4-1E81-EC06-2F5A-6F3F99D56CB3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29AC7B9E-29D0-DF4D-9934-415DD7112834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19AA98C4-9F9E-92C3-F23B-F8DAD9FC95B5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7C5368E-0905-FD97-74DE-C8077F5AE985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B14195BF-ADCC-B4D1-E807-DAEB3694C89D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4C95CC3B-84C0-1377-C401-BEB6FA2E8FEE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dewow.py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1D7BC64F-8E3D-483D-F63B-298019A0A7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709FD624-631B-3F17-9DF1-EA3C21FE4F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276CEBE-1AB7-436A-5A46-3C3C3F3A93B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82530E3-5786-7D65-3A21-E5A966F22C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5817447E-668D-F619-8A71-06C36E63137C}"/>
              </a:ext>
            </a:extLst>
          </p:cNvPr>
          <p:cNvSpPr/>
          <p:nvPr/>
        </p:nvSpPr>
        <p:spPr>
          <a:xfrm rot="5400000">
            <a:off x="251164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772F516-9A06-9FD2-2B53-F7D565930E9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31950698-C5B7-1DBC-E199-3B0EBAD4230F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122" y="-533359"/>
            <a:ext cx="76231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59934AE-D46A-8B14-C69B-BBB622B4B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0884"/>
            <a:ext cx="79700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CF62D15-0C2E-2E69-7118-831790FBB7C2}"/>
              </a:ext>
            </a:extLst>
          </p:cNvPr>
          <p:cNvSpPr txBox="1"/>
          <p:nvPr/>
        </p:nvSpPr>
        <p:spPr>
          <a:xfrm>
            <a:off x="7224339" y="1499439"/>
            <a:ext cx="2634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低频漂移校正后</a:t>
            </a: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C6A03CD3-D593-8D3C-1763-6E172847D726}"/>
              </a:ext>
            </a:extLst>
          </p:cNvPr>
          <p:cNvSpPr/>
          <p:nvPr/>
        </p:nvSpPr>
        <p:spPr>
          <a:xfrm rot="5400000">
            <a:off x="6750248" y="1499269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B9378DE-0019-17A8-E37D-3E21FE3DA5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330" y="2089550"/>
            <a:ext cx="6599074" cy="5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50" name="Picture 2" descr="飞书文档 - 图片">
            <a:extLst>
              <a:ext uri="{FF2B5EF4-FFF2-40B4-BE49-F238E27FC236}">
                <a16:creationId xmlns:a16="http://schemas.microsoft.com/office/drawing/2014/main" id="{7F3CC3C2-BFF3-2146-83C4-6FBCA8549624}"/>
              </a:ext>
            </a:extLst>
          </p:cNvPr>
          <p:cNvPicPr>
            <a:picLocks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4" y="2104163"/>
            <a:ext cx="6084965" cy="4541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FEDC979-2F11-2036-4ED0-183D29B0B129}"/>
              </a:ext>
            </a:extLst>
          </p:cNvPr>
          <p:cNvPicPr>
            <a:picLocks/>
          </p:cNvPicPr>
          <p:nvPr/>
        </p:nvPicPr>
        <p:blipFill>
          <a:blip r:embed="rId8"/>
          <a:stretch>
            <a:fillRect/>
          </a:stretch>
        </p:blipFill>
        <p:spPr>
          <a:xfrm>
            <a:off x="6095999" y="2126350"/>
            <a:ext cx="6084000" cy="45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798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E7B6-8A30-930C-9FA4-19CB468CA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C6A92647-9867-8A38-1FE9-68E0EF75E43C}"/>
              </a:ext>
            </a:extLst>
          </p:cNvPr>
          <p:cNvSpPr txBox="1"/>
          <p:nvPr/>
        </p:nvSpPr>
        <p:spPr>
          <a:xfrm>
            <a:off x="787345" y="1541299"/>
            <a:ext cx="1870072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零时矫正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45C64ECD-AB36-8CD8-0CAF-FA30234A53B7}"/>
              </a:ext>
            </a:extLst>
          </p:cNvPr>
          <p:cNvSpPr txBox="1"/>
          <p:nvPr/>
        </p:nvSpPr>
        <p:spPr>
          <a:xfrm>
            <a:off x="1468755" y="2370455"/>
            <a:ext cx="94976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处理目标：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校正各道数据的时间零点，使所有测线的零时刻均与地表反射对齐。由于仪器启动延迟或线路差异，同一原始数据中不同道迹的地表反射可能会在时间轴上产生偏移。零时校正通过移动时间轴消除这种偏移。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F1EA4F5A-D612-BF5B-5600-42D814B992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2F82CA8A-E8E7-84FD-D48E-E9EA4D0354A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9EF15278-FBB1-7447-9E09-2848B31F3911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476EF7DF-3678-1C3E-ECD6-4E0FAD118087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9B33E2A4-B40A-E6C3-F7DB-4CDBA1A1FC98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F3C1CC7D-03AA-7193-99F8-9416E40FFC30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9736E29-4D6D-97EB-0503-6599E45332B0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72A3A7BA-7083-3BAD-B53A-015624FA7ABE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91C9679-F393-7216-1B00-ED52022F2485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Set_zero_time.py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C248CC8A-97CB-D410-BB48-8E1BB1BA1F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5FB42FC5-96D0-70F9-9065-5C75F57AD80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FFB474C-84E0-F647-4D2D-D3096D0BF33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2AB7F66D-7954-F1FE-8F55-716957EF9FE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66DB4556-91E8-66A8-2858-98EDA08F02F0}"/>
              </a:ext>
            </a:extLst>
          </p:cNvPr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20D2FC4-DF0A-DC41-4A1D-7877C3E55862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C034F359-69B3-DABB-9FAA-CE3E56803698}"/>
              </a:ext>
            </a:extLst>
          </p:cNvPr>
          <p:cNvSpPr txBox="1"/>
          <p:nvPr/>
        </p:nvSpPr>
        <p:spPr>
          <a:xfrm>
            <a:off x="1418616" y="3553977"/>
            <a:ext cx="95478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信号处理原理：</a:t>
            </a:r>
          </a:p>
          <a:p>
            <a:r>
              <a:rPr lang="zh-CN" altLang="en-US" dirty="0"/>
              <a:t>在每道数据中找到第一个真实反射（通常是地表反射或直接波）的到达样点，将该点对齐到时间零点。例如，可以人为或自动设定第一个超过阈值的样点为零时刻，然后将整条道迹相应地平移。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9F1ED540-5F35-FE1E-2D62-7519EF833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941" y="33426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EA547E52-14C9-DC77-3C66-6F2F4AFBF748}"/>
              </a:ext>
            </a:extLst>
          </p:cNvPr>
          <p:cNvSpPr txBox="1"/>
          <p:nvPr/>
        </p:nvSpPr>
        <p:spPr>
          <a:xfrm>
            <a:off x="1458541" y="4813658"/>
            <a:ext cx="9507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校正后才能保证时间轴上的深度换算准确一致。若不做零时校正，所有深度信息都会出现偏差，无法正确比较不同位置或测线的数据。因此，零时校正通常是</a:t>
            </a:r>
            <a:r>
              <a:rPr lang="en-US" altLang="zh-CN" dirty="0"/>
              <a:t>GPR</a:t>
            </a:r>
            <a:r>
              <a:rPr lang="zh-CN" altLang="en-US" dirty="0"/>
              <a:t>数据处理的标准步骤之一，确保剖面图像的深度与地表对应</a:t>
            </a:r>
          </a:p>
        </p:txBody>
      </p:sp>
    </p:spTree>
    <p:extLst>
      <p:ext uri="{BB962C8B-B14F-4D97-AF65-F5344CB8AC3E}">
        <p14:creationId xmlns:p14="http://schemas.microsoft.com/office/powerpoint/2010/main" val="3578023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85BCE-3EBF-074A-9FA9-1EF6286CD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25167EC2-3C1A-A668-B6A6-98D432655119}"/>
              </a:ext>
            </a:extLst>
          </p:cNvPr>
          <p:cNvSpPr txBox="1"/>
          <p:nvPr/>
        </p:nvSpPr>
        <p:spPr>
          <a:xfrm>
            <a:off x="725255" y="1599615"/>
            <a:ext cx="22945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原始数据绘图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DF39B483-F1AC-E560-7B0A-1E31F2A9D9E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C2EA0F59-0AF2-6620-0369-316F8BA728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EF8B050B-AB35-C49D-B412-C940523F7C22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1498F632-192A-A7C4-B7D9-A56F2A38A424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3BAF32B1-9541-0628-5E82-7AC6541A0AF2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2203811C-7367-981C-A3F5-65173DD32CD9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17DD5F1-A44C-1536-1E59-2CAFA73CE8F2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76C1D690-40BC-52E0-A29D-FBFA5DFA39C9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F2CF3003-85B2-A709-4890-4F186E4C301B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Set_zero_time.py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08D9AD26-6F29-43D4-FAAA-C4C30B53CD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A589A3A7-B806-8685-5E7F-0CB0C011130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DD21D67-0642-FE4D-267F-3A25479F54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AA86B01-6848-F242-CFE4-84F3462D874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C4EB5FFE-FC57-5276-E12D-C7D7868816B5}"/>
              </a:ext>
            </a:extLst>
          </p:cNvPr>
          <p:cNvSpPr/>
          <p:nvPr/>
        </p:nvSpPr>
        <p:spPr>
          <a:xfrm rot="5400000">
            <a:off x="251164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081F57-CD10-C028-A2E7-BCFDF4FFEA7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19B688-BB03-F9D2-3795-20024C55365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122" y="-533359"/>
            <a:ext cx="76231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A66CAA93-9BF8-52EF-F4FF-67CAD93C4F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0884"/>
            <a:ext cx="79700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F665BD4-D684-1D87-3031-B5127C0ACE83}"/>
              </a:ext>
            </a:extLst>
          </p:cNvPr>
          <p:cNvSpPr txBox="1"/>
          <p:nvPr/>
        </p:nvSpPr>
        <p:spPr>
          <a:xfrm>
            <a:off x="7224339" y="1499439"/>
            <a:ext cx="2634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零时校正后</a:t>
            </a: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5191F007-BD37-1582-E205-6EFDEB51264E}"/>
              </a:ext>
            </a:extLst>
          </p:cNvPr>
          <p:cNvSpPr/>
          <p:nvPr/>
        </p:nvSpPr>
        <p:spPr>
          <a:xfrm rot="5400000">
            <a:off x="6750248" y="1499269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D37E7AC-B5D5-0A18-4254-D503EE15F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330" y="2089550"/>
            <a:ext cx="6599074" cy="5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D14F7D9-9DAD-1E44-D648-FC531243A4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237" y="2139805"/>
            <a:ext cx="6078349" cy="420597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9C5E1AFC-33DE-636F-9409-BABAA19D8D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15398" y="2172218"/>
            <a:ext cx="6129857" cy="4164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8537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7368C-44CB-3A8E-A468-61666291D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81A10009-C797-0F77-193F-BB736F385389}"/>
              </a:ext>
            </a:extLst>
          </p:cNvPr>
          <p:cNvSpPr txBox="1"/>
          <p:nvPr/>
        </p:nvSpPr>
        <p:spPr>
          <a:xfrm>
            <a:off x="787344" y="1541299"/>
            <a:ext cx="2356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增益补偿矫正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86E4337-B477-05A4-98D3-080FA7C33621}"/>
              </a:ext>
            </a:extLst>
          </p:cNvPr>
          <p:cNvSpPr txBox="1"/>
          <p:nvPr/>
        </p:nvSpPr>
        <p:spPr>
          <a:xfrm>
            <a:off x="1468755" y="2370455"/>
            <a:ext cx="9497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处理目标：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补偿电磁波在介质中传播时的衰减，使深部和浅部信号的幅度更加均衡。由于介质吸收和散射作用，深层信号往往衰减严重，</a:t>
            </a:r>
            <a:r>
              <a:rPr lang="en-US" altLang="zh-CN" dirty="0"/>
              <a:t>AGC</a:t>
            </a:r>
            <a:r>
              <a:rPr lang="zh-CN" altLang="en-US" dirty="0"/>
              <a:t>的目标是放大深部弱反射，提高其可见度。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EA68B38-A6ED-0FAE-A5FF-A972FA0A9E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542B385-955D-3EC2-47DE-475A72B553F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0D0DD1F6-884E-C051-067D-21B9360DD232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D6619BA5-6662-E12E-E058-4F61DF6B174F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06E6A6BE-573A-C8B8-0D51-5827473A61E3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3CDC07B7-6CD3-BFBC-9CDA-D5086E767566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11F467A-6F58-AC24-16C5-D454165B78D7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ED5EB34C-3872-8A53-9CA7-9E032259B202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0262AC2-61DD-CAC2-5936-81006D849302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agcGain.py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3DA1EEAB-C117-968C-5F4A-D1A1EC97AA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D930F0C0-ADF8-9028-7C46-EE71F07C4D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B25BD6E-04B3-7231-4A59-3F1653EE14B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443715C-A50C-486D-CBB4-BC6142AB7B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7AF8C5B4-39A7-EF90-E93B-F329089AAA96}"/>
              </a:ext>
            </a:extLst>
          </p:cNvPr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50E81D9-BA6D-5EA3-27E0-DFB5636AC13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8793F5A-4506-F595-CBCE-57EEFFFC126D}"/>
              </a:ext>
            </a:extLst>
          </p:cNvPr>
          <p:cNvSpPr txBox="1"/>
          <p:nvPr/>
        </p:nvSpPr>
        <p:spPr>
          <a:xfrm>
            <a:off x="1418616" y="3553977"/>
            <a:ext cx="671062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信号处理原理：</a:t>
            </a:r>
          </a:p>
          <a:p>
            <a:r>
              <a:rPr lang="zh-CN" altLang="en-US" dirty="0"/>
              <a:t>对每条道迹，在时间轴上使用滑动窗口（例如固定时间窗长）计算窗口内信号的统计量（如均方根或均值），并据此计算增益系数。该系数通常与信号强度成反比，使得窗口内的信号幅度被调整到相同水平。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B3912B38-5E5D-AAB0-5522-C96C26092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941" y="33426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A9B4C6F-1505-D703-6D9E-EDBA2D08E1CA}"/>
              </a:ext>
            </a:extLst>
          </p:cNvPr>
          <p:cNvSpPr txBox="1"/>
          <p:nvPr/>
        </p:nvSpPr>
        <p:spPr>
          <a:xfrm>
            <a:off x="1468755" y="5031305"/>
            <a:ext cx="9507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应用</a:t>
            </a:r>
            <a:r>
              <a:rPr lang="en-US" altLang="zh-CN" dirty="0"/>
              <a:t>AGC</a:t>
            </a:r>
            <a:r>
              <a:rPr lang="zh-CN" altLang="en-US" dirty="0"/>
              <a:t>后，剖面中各目标的反射幅度分布更均匀，深部和浅部目标在图像上都更易见。这有利于追踪连贯的反射事件（如双曲线）并增强弱反射。但</a:t>
            </a:r>
            <a:r>
              <a:rPr lang="en-US" altLang="zh-CN" dirty="0"/>
              <a:t>AGC</a:t>
            </a:r>
            <a:r>
              <a:rPr lang="zh-CN" altLang="en-US" dirty="0"/>
              <a:t>会丢失反射绝对振幅信息，只保留相对变化，因此适合定性解释（增强可视性）而不适用于需要定量比较振幅的 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F299D0-7251-7C6C-C11C-6865719A8E0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42507" y="3830000"/>
            <a:ext cx="3448531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867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DFDEF-5902-A6C7-981C-A9992E518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1B732F37-EF9B-3DFA-F65C-4F7AD34E0914}"/>
              </a:ext>
            </a:extLst>
          </p:cNvPr>
          <p:cNvSpPr txBox="1"/>
          <p:nvPr/>
        </p:nvSpPr>
        <p:spPr>
          <a:xfrm>
            <a:off x="725255" y="1599615"/>
            <a:ext cx="22945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原始数据绘图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8F7ECA43-8486-4071-1911-94852489FD3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BB2744B-8E26-F29F-DCE8-C86E8B56BD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E25747BF-5E4C-C4BB-F391-9500F4D0C720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581AF899-492B-615F-C07A-89DF3B1A7EC8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CC583CAE-A1B1-4F23-36C4-EB4548D40E35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02AD7097-BA75-BE8D-1905-AD0F6DCCDB15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AF671E9C-724A-8D35-6CEF-6BC4A68CFEE7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D00CC7AA-B226-AA44-BDAE-85175FBE7E7A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B6B9202-BD39-3BE2-3C51-85CCAA79F9B0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agcGain.py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83D97A73-B2E0-E502-EF5A-1B023B67DD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91736B28-BD9C-42AA-9526-EFB6E53447E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1FE0669-6CE7-C06D-1BDA-9240C6175F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DF1A7D6-A5A4-7B3D-3C04-73D5EB3CA6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7D315FF4-1EE3-6C2F-85C6-4CE9A9291274}"/>
              </a:ext>
            </a:extLst>
          </p:cNvPr>
          <p:cNvSpPr/>
          <p:nvPr/>
        </p:nvSpPr>
        <p:spPr>
          <a:xfrm rot="5400000">
            <a:off x="251164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DD91FBE-05FA-B4CB-9B05-AAD946EF47B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1D83844-7AEB-0210-994E-87722BA74A89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122" y="-533359"/>
            <a:ext cx="76231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783FC0B5-2752-6687-2A5B-0F7A2B3FAA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0884"/>
            <a:ext cx="79700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D74F199-AE82-7C17-8956-FFE71A3A5014}"/>
              </a:ext>
            </a:extLst>
          </p:cNvPr>
          <p:cNvSpPr txBox="1"/>
          <p:nvPr/>
        </p:nvSpPr>
        <p:spPr>
          <a:xfrm>
            <a:off x="868977" y="3924587"/>
            <a:ext cx="3205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增益补偿矫正后</a:t>
            </a: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E338019F-E3EB-368E-BB43-32D271C38530}"/>
              </a:ext>
            </a:extLst>
          </p:cNvPr>
          <p:cNvSpPr/>
          <p:nvPr/>
        </p:nvSpPr>
        <p:spPr>
          <a:xfrm rot="5400000">
            <a:off x="394886" y="3924417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382BD17-F8FB-7291-EA4A-5ECBB82E1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330" y="2089550"/>
            <a:ext cx="6599074" cy="5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图表 7">
            <a:extLst>
              <a:ext uri="{FF2B5EF4-FFF2-40B4-BE49-F238E27FC236}">
                <a16:creationId xmlns:a16="http://schemas.microsoft.com/office/drawing/2014/main" id="{0F4610CE-710A-9D37-782B-DC7D6BBF209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9135490"/>
              </p:ext>
            </p:extLst>
          </p:nvPr>
        </p:nvGraphicFramePr>
        <p:xfrm>
          <a:off x="340390" y="1734080"/>
          <a:ext cx="10652288" cy="22416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12" name="图表 11">
            <a:extLst>
              <a:ext uri="{FF2B5EF4-FFF2-40B4-BE49-F238E27FC236}">
                <a16:creationId xmlns:a16="http://schemas.microsoft.com/office/drawing/2014/main" id="{9FC064EB-95EC-6B43-61CA-75A32318B7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67735326"/>
              </p:ext>
            </p:extLst>
          </p:nvPr>
        </p:nvGraphicFramePr>
        <p:xfrm>
          <a:off x="340390" y="4352082"/>
          <a:ext cx="10652288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</p:spTree>
    <p:extLst>
      <p:ext uri="{BB962C8B-B14F-4D97-AF65-F5344CB8AC3E}">
        <p14:creationId xmlns:p14="http://schemas.microsoft.com/office/powerpoint/2010/main" val="358786319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E44E2-8333-D6BF-5F7F-314F003EA1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991C5D96-2D83-90C8-594F-857BE784E18F}"/>
              </a:ext>
            </a:extLst>
          </p:cNvPr>
          <p:cNvSpPr txBox="1"/>
          <p:nvPr/>
        </p:nvSpPr>
        <p:spPr>
          <a:xfrm>
            <a:off x="787344" y="1541299"/>
            <a:ext cx="2356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背景抑制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CF171B65-CE40-699A-0DA9-05F1996504B9}"/>
              </a:ext>
            </a:extLst>
          </p:cNvPr>
          <p:cNvSpPr txBox="1"/>
          <p:nvPr/>
        </p:nvSpPr>
        <p:spPr>
          <a:xfrm>
            <a:off x="1468755" y="2370455"/>
            <a:ext cx="9497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处理目标：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去除剖面中与探测位置无关的恒定背景信号，如天线直接耦合波、空气波和地表波等平行于时间轴出现的杂波。这些平行条带状干扰常掩盖弱目标的反射信号。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C8A562DB-98E1-28CB-5ED9-213785D784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B88FB6EF-AC9F-80B9-689D-DBC7C6CDFC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CCAC2AE8-24A3-DDEB-14BE-5AA96CA5DCE4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99A87F93-5A9E-D161-1A4A-FDAF6104A9FD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5845C8D7-F18C-D7AB-76FF-4EFD0796E6EA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4288EDAE-199F-E480-2228-C6D597F236E7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031CFB4-920C-B6FC-2535-6E0F02E54E5A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6154B26F-7D74-FA2E-859F-5C01799862D3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841944A-AF44-32BB-1C6C-F61B1158EFBD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subtracting_average_2D.py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9E1D370C-0FAD-C888-E12A-952697D1340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2B7380F5-9A77-8CEA-7416-2735634FA6D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C40AAAB-CDDF-71A6-12BE-918B9D36D8F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F972EE3-0655-04D2-9A35-D56EEA7AA3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CD2C2CE1-6E26-A518-CA99-8348461CF44B}"/>
              </a:ext>
            </a:extLst>
          </p:cNvPr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AEDE494-3E83-74C0-D3F8-4EEEBD9A04C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FE1DEDC6-9801-A0C8-31A5-8E8B6A575FE9}"/>
              </a:ext>
            </a:extLst>
          </p:cNvPr>
          <p:cNvSpPr txBox="1"/>
          <p:nvPr/>
        </p:nvSpPr>
        <p:spPr>
          <a:xfrm>
            <a:off x="1418616" y="3553977"/>
            <a:ext cx="479752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信号处理原理：</a:t>
            </a:r>
          </a:p>
          <a:p>
            <a:r>
              <a:rPr lang="zh-CN" altLang="en-US" dirty="0"/>
              <a:t>首先计算当前剖面（或测线）中所有道迹的平均波形（背景波形），然后将该平均波形从每一道数据中减去。这样，共性信号（常量分量）被去除，只剩下各道之间变化的部分。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A9CE64DB-684E-48AB-9EFE-A0A4ED5FDE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941" y="33426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9263DA4C-B4B3-61DF-F969-9BEA9DB8E479}"/>
              </a:ext>
            </a:extLst>
          </p:cNvPr>
          <p:cNvSpPr txBox="1"/>
          <p:nvPr/>
        </p:nvSpPr>
        <p:spPr>
          <a:xfrm>
            <a:off x="1468755" y="5031305"/>
            <a:ext cx="950790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背景平均抑制可以有效压制水平带状干扰，提高目标反射的对比度。减去平均波形后，弱反射（如点目标产生的双曲线）更突出。这种方法是处理劣质或高噪声数据时的常见步骤，有助于提升信噪比。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1E0CC28-C539-7A7F-5F78-F275573CAF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38800" y="3697649"/>
            <a:ext cx="5198694" cy="1122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7978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E0768-9775-AB02-DAF6-352F0FF467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F1659079-D470-1517-192B-311D03094D5D}"/>
              </a:ext>
            </a:extLst>
          </p:cNvPr>
          <p:cNvSpPr txBox="1"/>
          <p:nvPr/>
        </p:nvSpPr>
        <p:spPr>
          <a:xfrm>
            <a:off x="725255" y="1599615"/>
            <a:ext cx="22945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原始数据绘图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325980DD-F95A-D953-F480-88BA073185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41F8E420-9465-E371-5ACD-8580B4CCA72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716617BC-D22E-AAEB-5FBD-C2FF3A08CA52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B6B2B19D-7E73-F35A-CC2A-A5D3E6A5EA40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9055DB52-2B93-F581-FFC3-936921FD66A6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EC7C2B8A-93B4-7911-96C4-0BA54D57A2C7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3AE1E88E-6409-1A8F-12AF-07955BC48CF9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BA236B91-B62F-2337-FAC2-CD5A6111D2CC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47DFD2E-38BF-00AF-055C-68D2DFE559A1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subtracting_average_2D.py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A58D012-C55B-CEED-867F-78E1E2E3A08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A461805F-CF38-9F06-70B7-50BCE7C176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A517554-69E4-B119-6174-2FFCDC3F54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69E9545-CE64-4903-40B6-4E4B96CD537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792F1696-C14A-0624-3BA2-3AEABE77E10B}"/>
              </a:ext>
            </a:extLst>
          </p:cNvPr>
          <p:cNvSpPr/>
          <p:nvPr/>
        </p:nvSpPr>
        <p:spPr>
          <a:xfrm rot="5400000">
            <a:off x="251164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549B47A-4A92-AF21-D6CD-A0A8797176F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2FE53D65-7D77-EA26-3AF3-2F68FB23F118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122" y="-533359"/>
            <a:ext cx="76231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F7B20821-A39D-453A-EADB-4118266B66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0884"/>
            <a:ext cx="79700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C1BFC2E-4E54-8C9B-BF92-E20C3E37DB5C}"/>
              </a:ext>
            </a:extLst>
          </p:cNvPr>
          <p:cNvSpPr txBox="1"/>
          <p:nvPr/>
        </p:nvSpPr>
        <p:spPr>
          <a:xfrm>
            <a:off x="8044063" y="1599615"/>
            <a:ext cx="3205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背景抑制后</a:t>
            </a: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3B76CE4A-0AFB-0E7B-B681-CE992EC98471}"/>
              </a:ext>
            </a:extLst>
          </p:cNvPr>
          <p:cNvSpPr/>
          <p:nvPr/>
        </p:nvSpPr>
        <p:spPr>
          <a:xfrm rot="5400000">
            <a:off x="7569972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9A10B68D-151A-5E22-8FA1-73DC5A40C3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330" y="2089550"/>
            <a:ext cx="6599074" cy="5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E3A46285-A0A5-FD4F-A5FA-E95D4E224A1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104" t="1832" r="7188" b="5171"/>
          <a:stretch>
            <a:fillRect/>
          </a:stretch>
        </p:blipFill>
        <p:spPr>
          <a:xfrm>
            <a:off x="116745" y="2139805"/>
            <a:ext cx="6013380" cy="414180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A813847D-CBC3-449C-A0DD-3B75304437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2127318"/>
            <a:ext cx="5863018" cy="415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50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4C8B1-5EDA-A429-58F8-4743E6342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AF2DABF4-D010-11E8-2ADB-97F7DE8CD802}"/>
              </a:ext>
            </a:extLst>
          </p:cNvPr>
          <p:cNvSpPr txBox="1"/>
          <p:nvPr/>
        </p:nvSpPr>
        <p:spPr>
          <a:xfrm>
            <a:off x="787344" y="1541299"/>
            <a:ext cx="2356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尖锐杂波抑制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164499C1-0E24-AEED-7358-5680A5B819C8}"/>
              </a:ext>
            </a:extLst>
          </p:cNvPr>
          <p:cNvSpPr txBox="1"/>
          <p:nvPr/>
        </p:nvSpPr>
        <p:spPr>
          <a:xfrm>
            <a:off x="1468755" y="2370455"/>
            <a:ext cx="949769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处理目标：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平滑</a:t>
            </a:r>
            <a:r>
              <a:rPr lang="en-US" altLang="zh-CN" dirty="0"/>
              <a:t>GPR</a:t>
            </a:r>
            <a:r>
              <a:rPr lang="zh-CN" altLang="en-US" dirty="0"/>
              <a:t>数据，降低随机高频噪声，以突出主要反射信号的连贯结构。滑动平均滤波常用于去除尖锐随机杂波，提高图像清晰度。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2D3925A-9272-569E-39CE-C0E8D7F1E2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81C67EBC-AB4C-056A-3D71-593A7E1ED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E3DFC8F4-FBCB-600A-AEF1-C1C188A130C2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C489A249-362D-EA39-6A83-01EA7B40EDB3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079AEFF5-A431-A339-4807-68CEA43CC1C1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D1EA501F-505A-1F86-3D3B-129A16FCBEA5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CEB847AD-BCA6-4AE0-DF67-ACF9C4A3B91D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44ED0775-65DD-C990-421F-ACD4C6465ABC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900283E9-F04E-8C75-DA8D-52329E824869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running_average_2D.py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C930E5D7-8EDB-AFFA-B847-5F2889FA0DD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072E15C4-660D-2583-76E6-D588907303F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7CF132B-97DF-4687-28F1-135915FD60C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9EA98A7-1571-14D8-0191-921D512BB5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1212260A-048D-D548-A7FD-F75E123C3903}"/>
              </a:ext>
            </a:extLst>
          </p:cNvPr>
          <p:cNvSpPr/>
          <p:nvPr/>
        </p:nvSpPr>
        <p:spPr>
          <a:xfrm rot="5400000">
            <a:off x="907924" y="2298114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2E51A1-D34A-BBA9-FA0F-7D69A8AEFE7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A4425B-5054-D6AA-4D67-AD1AF9F3AF6E}"/>
              </a:ext>
            </a:extLst>
          </p:cNvPr>
          <p:cNvSpPr txBox="1"/>
          <p:nvPr/>
        </p:nvSpPr>
        <p:spPr>
          <a:xfrm>
            <a:off x="1418616" y="3553977"/>
            <a:ext cx="43223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信号处理原理：</a:t>
            </a:r>
          </a:p>
          <a:p>
            <a:r>
              <a:rPr lang="zh-CN" altLang="en-US" dirty="0"/>
              <a:t>对每个采样点及其邻域内的若干点（或多道数据）进行求平均，作为该点的新值。</a:t>
            </a: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E0C7623E-A860-7CD5-17C3-56A4F9F39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3941" y="334261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A8EC393-B311-7CF5-4BB5-21E976D5F295}"/>
              </a:ext>
            </a:extLst>
          </p:cNvPr>
          <p:cNvSpPr txBox="1"/>
          <p:nvPr/>
        </p:nvSpPr>
        <p:spPr>
          <a:xfrm>
            <a:off x="1468755" y="5031305"/>
            <a:ext cx="950790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意义：</a:t>
            </a:r>
            <a:endParaRPr lang="en-US" altLang="zh-CN" b="1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/>
              <a:t>滑动平均滤波能有效降低雷达剖面中的高频噪声，使连续反射特征更易观测。但滑动平均滤波会降低分辨率，窗口过大时可能模糊细节或减弱目标信号，因此需权衡平滑效果与分辨率损失。该滤波方法在</a:t>
            </a:r>
            <a:r>
              <a:rPr lang="en-US" altLang="zh-CN" dirty="0"/>
              <a:t>GPR</a:t>
            </a:r>
            <a:r>
              <a:rPr lang="zh-CN" altLang="en-US" dirty="0"/>
              <a:t>预处理和后处理中都很常见，可灵活调整窗宽以适应不同深度和目标类型。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7C818A1-CE4A-ADA0-8A1E-906B6EC3D09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3752084"/>
            <a:ext cx="2896004" cy="828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23310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7A239-9E4A-6DD3-7E4E-06281D7C8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文本框 39">
            <a:extLst>
              <a:ext uri="{FF2B5EF4-FFF2-40B4-BE49-F238E27FC236}">
                <a16:creationId xmlns:a16="http://schemas.microsoft.com/office/drawing/2014/main" id="{680D5124-AC90-850E-C2CD-8235F41F535E}"/>
              </a:ext>
            </a:extLst>
          </p:cNvPr>
          <p:cNvSpPr txBox="1"/>
          <p:nvPr/>
        </p:nvSpPr>
        <p:spPr>
          <a:xfrm>
            <a:off x="725255" y="1599615"/>
            <a:ext cx="2294581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原始数据绘图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452619EE-F36A-165D-9FE8-B3506E63A72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301" y="-83132"/>
            <a:ext cx="1429499" cy="2022049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769435AC-1D35-23C0-A887-AED0425B25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4579" y="-101986"/>
            <a:ext cx="1218069" cy="2177058"/>
          </a:xfrm>
          <a:prstGeom prst="rect">
            <a:avLst/>
          </a:prstGeom>
        </p:spPr>
      </p:pic>
      <p:sp>
        <p:nvSpPr>
          <p:cNvPr id="25" name="箭头: 五边形 24">
            <a:extLst>
              <a:ext uri="{FF2B5EF4-FFF2-40B4-BE49-F238E27FC236}">
                <a16:creationId xmlns:a16="http://schemas.microsoft.com/office/drawing/2014/main" id="{6D943518-C75A-692C-2280-273719385666}"/>
              </a:ext>
            </a:extLst>
          </p:cNvPr>
          <p:cNvSpPr/>
          <p:nvPr/>
        </p:nvSpPr>
        <p:spPr>
          <a:xfrm>
            <a:off x="0" y="478074"/>
            <a:ext cx="7266562" cy="642025"/>
          </a:xfrm>
          <a:prstGeom prst="homePlate">
            <a:avLst/>
          </a:prstGeom>
          <a:solidFill>
            <a:schemeClr val="accent1">
              <a:lumMod val="5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箭头: V 形 25">
            <a:extLst>
              <a:ext uri="{FF2B5EF4-FFF2-40B4-BE49-F238E27FC236}">
                <a16:creationId xmlns:a16="http://schemas.microsoft.com/office/drawing/2014/main" id="{3879416B-E0EA-0AC8-3F64-52922C16E52E}"/>
              </a:ext>
            </a:extLst>
          </p:cNvPr>
          <p:cNvSpPr/>
          <p:nvPr/>
        </p:nvSpPr>
        <p:spPr>
          <a:xfrm>
            <a:off x="7072641" y="478073"/>
            <a:ext cx="523925" cy="642025"/>
          </a:xfrm>
          <a:prstGeom prst="chevron">
            <a:avLst>
              <a:gd name="adj" fmla="val 62487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箭头: V 形 26">
            <a:extLst>
              <a:ext uri="{FF2B5EF4-FFF2-40B4-BE49-F238E27FC236}">
                <a16:creationId xmlns:a16="http://schemas.microsoft.com/office/drawing/2014/main" id="{6465594D-9E86-E773-6119-2BE706CDB5EC}"/>
              </a:ext>
            </a:extLst>
          </p:cNvPr>
          <p:cNvSpPr/>
          <p:nvPr/>
        </p:nvSpPr>
        <p:spPr>
          <a:xfrm>
            <a:off x="7424379" y="478073"/>
            <a:ext cx="427941" cy="642025"/>
          </a:xfrm>
          <a:prstGeom prst="chevron">
            <a:avLst>
              <a:gd name="adj" fmla="val 76041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箭头: V 形 27">
            <a:extLst>
              <a:ext uri="{FF2B5EF4-FFF2-40B4-BE49-F238E27FC236}">
                <a16:creationId xmlns:a16="http://schemas.microsoft.com/office/drawing/2014/main" id="{1AA9717F-1B8D-C992-EC2C-492A18093E80}"/>
              </a:ext>
            </a:extLst>
          </p:cNvPr>
          <p:cNvSpPr/>
          <p:nvPr/>
        </p:nvSpPr>
        <p:spPr>
          <a:xfrm>
            <a:off x="7755773" y="478073"/>
            <a:ext cx="373468" cy="642025"/>
          </a:xfrm>
          <a:prstGeom prst="chevron">
            <a:avLst>
              <a:gd name="adj" fmla="val 85754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0114EA0E-04B1-C62F-0D9E-98C9D92DC74E}"/>
              </a:ext>
            </a:extLst>
          </p:cNvPr>
          <p:cNvSpPr txBox="1"/>
          <p:nvPr/>
        </p:nvSpPr>
        <p:spPr>
          <a:xfrm>
            <a:off x="752997" y="461745"/>
            <a:ext cx="5393803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数据处理方法</a:t>
            </a:r>
          </a:p>
        </p:txBody>
      </p:sp>
      <p:sp>
        <p:nvSpPr>
          <p:cNvPr id="31" name="直角三角形 30">
            <a:extLst>
              <a:ext uri="{FF2B5EF4-FFF2-40B4-BE49-F238E27FC236}">
                <a16:creationId xmlns:a16="http://schemas.microsoft.com/office/drawing/2014/main" id="{9182DBFD-4370-4190-FC7E-714B0699AD53}"/>
              </a:ext>
            </a:extLst>
          </p:cNvPr>
          <p:cNvSpPr/>
          <p:nvPr/>
        </p:nvSpPr>
        <p:spPr>
          <a:xfrm rot="10800000">
            <a:off x="-27021" y="1120093"/>
            <a:ext cx="629302" cy="425719"/>
          </a:xfrm>
          <a:prstGeom prst="rtTriangle">
            <a:avLst/>
          </a:prstGeom>
          <a:solidFill>
            <a:schemeClr val="accent1">
              <a:lumMod val="75000"/>
              <a:alpha val="6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1AB6ACEB-4A25-68B1-49EB-26054AF728AF}"/>
              </a:ext>
            </a:extLst>
          </p:cNvPr>
          <p:cNvSpPr txBox="1"/>
          <p:nvPr/>
        </p:nvSpPr>
        <p:spPr>
          <a:xfrm>
            <a:off x="776057" y="1165950"/>
            <a:ext cx="5544273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running_average_2D.py</a:t>
            </a:r>
            <a:endParaRPr lang="zh-CN" altLang="en-US" sz="2000" dirty="0">
              <a:solidFill>
                <a:schemeClr val="tx1">
                  <a:lumMod val="50000"/>
                  <a:lumOff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37" name="图片 36">
            <a:extLst>
              <a:ext uri="{FF2B5EF4-FFF2-40B4-BE49-F238E27FC236}">
                <a16:creationId xmlns:a16="http://schemas.microsoft.com/office/drawing/2014/main" id="{40778EE0-1131-2DCC-6B14-B1D5A0FE5C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145" y="309262"/>
            <a:ext cx="891058" cy="1260416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A672B0B3-4B81-D535-5908-2CAC471D69F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8196" y="166310"/>
            <a:ext cx="1057173" cy="14953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31F1FF-D16D-17AC-021A-DCAE3BFFC1F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289" y="-86698"/>
            <a:ext cx="1429499" cy="202204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E2CD576E-8EC3-7093-58B2-A459B9E2F4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567" y="-105552"/>
            <a:ext cx="1218069" cy="2177058"/>
          </a:xfrm>
          <a:prstGeom prst="rect">
            <a:avLst/>
          </a:prstGeom>
        </p:spPr>
      </p:pic>
      <p:sp>
        <p:nvSpPr>
          <p:cNvPr id="20" name="箭头: V 形 19">
            <a:extLst>
              <a:ext uri="{FF2B5EF4-FFF2-40B4-BE49-F238E27FC236}">
                <a16:creationId xmlns:a16="http://schemas.microsoft.com/office/drawing/2014/main" id="{E61B2218-0A5A-13A6-FA6F-E6005975C4D7}"/>
              </a:ext>
            </a:extLst>
          </p:cNvPr>
          <p:cNvSpPr/>
          <p:nvPr/>
        </p:nvSpPr>
        <p:spPr>
          <a:xfrm rot="5400000">
            <a:off x="251164" y="1599445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920F9D8-3D15-08D1-54E0-2C0A59004B08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9478" y="-499744"/>
            <a:ext cx="3460702" cy="2446851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EA2B983D-1ED9-5268-2750-848A60C8D9F5}"/>
              </a:ext>
            </a:extLst>
          </p:cNvPr>
          <p:cNvSpPr>
            <a:spLocks noChangeArrowheads="1"/>
          </p:cNvSpPr>
          <p:nvPr/>
        </p:nvSpPr>
        <p:spPr bwMode="auto">
          <a:xfrm flipV="1">
            <a:off x="176122" y="-533359"/>
            <a:ext cx="762311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26491ABD-774D-42C0-CE7A-AAB2DA72F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130884"/>
            <a:ext cx="797007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5CD3D5B-608E-1F6D-BE52-003093D3F3C6}"/>
              </a:ext>
            </a:extLst>
          </p:cNvPr>
          <p:cNvSpPr txBox="1"/>
          <p:nvPr/>
        </p:nvSpPr>
        <p:spPr>
          <a:xfrm>
            <a:off x="725255" y="3984768"/>
            <a:ext cx="32056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背景抑制后</a:t>
            </a: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233C7F7C-6E2D-06CB-0412-7058748D0B59}"/>
              </a:ext>
            </a:extLst>
          </p:cNvPr>
          <p:cNvSpPr/>
          <p:nvPr/>
        </p:nvSpPr>
        <p:spPr>
          <a:xfrm rot="5400000">
            <a:off x="251164" y="3984598"/>
            <a:ext cx="357945" cy="604019"/>
          </a:xfrm>
          <a:prstGeom prst="chevron">
            <a:avLst>
              <a:gd name="adj" fmla="val 48413"/>
            </a:avLst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23D9032-CDFC-604E-17CD-6F3FD9A221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0330" y="2089550"/>
            <a:ext cx="6599074" cy="525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CE955B75-6001-D9B9-6EC6-772C1E774A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167114"/>
            <a:ext cx="12180180" cy="178142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80191C7-1B0E-99D9-03D8-F88CFEE4EBC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4482663"/>
            <a:ext cx="12180180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86276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DViY2JkMjU3NGYzZTEwMzZmMGFkZWViYmNkYWU3NDI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3890</TotalTime>
  <Words>1727</Words>
  <Application>Microsoft Office PowerPoint</Application>
  <PresentationFormat>宽屏</PresentationFormat>
  <Paragraphs>185</Paragraphs>
  <Slides>33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39" baseType="lpstr">
      <vt:lpstr>等线</vt:lpstr>
      <vt:lpstr>等线 Light</vt:lpstr>
      <vt:lpstr>黑体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映昵 向</dc:creator>
  <cp:lastModifiedBy>Jian Hao Di</cp:lastModifiedBy>
  <cp:revision>57</cp:revision>
  <dcterms:created xsi:type="dcterms:W3CDTF">2024-05-06T14:11:00Z</dcterms:created>
  <dcterms:modified xsi:type="dcterms:W3CDTF">2026-02-26T16:31:59Z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71EBC29B06834F26B485FA1E5FCD2594_12</vt:lpwstr>
  </property>
  <property fmtid="{D5CDD505-2E9C-101B-9397-08002B2CF9AE}" pid="3" name="KSOProductBuildVer">
    <vt:lpwstr>2052-12.1.0.24657</vt:lpwstr>
  </property>
</Properties>
</file>