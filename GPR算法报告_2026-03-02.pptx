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85" r:id="rId3"/>
    <p:sldId id="266" r:id="rId4"/>
    <p:sldId id="258" r:id="rId5"/>
    <p:sldId id="260" r:id="rId6"/>
    <p:sldId id="265" r:id="rId11"/>
    <p:sldId id="275" r:id="rId14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75" autoAdjust="0"/>
    <p:restoredTop sz="95026" autoAdjust="0"/>
  </p:normalViewPr>
  <p:slideViewPr>
    <p:cSldViewPr snapToGrid="0">
      <p:cViewPr>
        <p:scale>
          <a:sx n="81" d="100"/>
          <a:sy n="81" d="100"/>
        </p:scale>
        <p:origin x="173" y="-6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25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1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37FA5-3328-4E1C-AFF1-FDE307A55A4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A37723-60A2-4A5F-A786-3B10A284F14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712B30-B520-4610-A329-80457D7D01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A83B8C-6552-43C9-94CF-8DC95475258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3.xml.rels><?xml version="1.0" encoding="UTF-8"?>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4.xml.rels><?xml version="1.0" encoding="UTF-8"?>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9.png"/><Relationship Id="rId2" Type="http://schemas.openxmlformats.org/officeDocument/2006/relationships/image" Target="../media/image14.jpeg"/><Relationship Id="rId1" Type="http://schemas.openxmlformats.org/officeDocument/2006/relationships/image" Target="../media/image13.jpeg"/></Relationships>
</file>

<file path=ppt/slides/_rels/slide8.xml.rels><?xml version="1.0" encoding="UTF-8"?>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9" Type="http://schemas.openxmlformats.org/officeDocument/2006/relationships/slideLayout" Target="../slideLayouts/slideLayout7.xml"/><Relationship Id="rId38" Type="http://schemas.openxmlformats.org/officeDocument/2006/relationships/image" Target="../media/image9.png"/><Relationship Id="rId37" Type="http://schemas.openxmlformats.org/officeDocument/2006/relationships/image" Target="../media/image17.png"/><Relationship Id="rId36" Type="http://schemas.openxmlformats.org/officeDocument/2006/relationships/image" Target="../media/image15.png"/><Relationship Id="rId35" Type="http://schemas.openxmlformats.org/officeDocument/2006/relationships/image" Target="../media/image16.png"/><Relationship Id="rId34" Type="http://schemas.openxmlformats.org/officeDocument/2006/relationships/image" Target="../media/image18.png"/><Relationship Id="rId33" Type="http://schemas.openxmlformats.org/officeDocument/2006/relationships/tags" Target="../tags/tag24.xml"/><Relationship Id="rId32" Type="http://schemas.openxmlformats.org/officeDocument/2006/relationships/tags" Target="../tags/tag23.xml"/><Relationship Id="rId31" Type="http://schemas.openxmlformats.org/officeDocument/2006/relationships/tags" Target="../tags/tag22.xml"/><Relationship Id="rId30" Type="http://schemas.openxmlformats.org/officeDocument/2006/relationships/tags" Target="../tags/tag21.xml"/><Relationship Id="rId3" Type="http://schemas.openxmlformats.org/officeDocument/2006/relationships/tags" Target="../tags/tag2.xml"/><Relationship Id="rId29" Type="http://schemas.openxmlformats.org/officeDocument/2006/relationships/tags" Target="../tags/tag20.xml"/><Relationship Id="rId28" Type="http://schemas.openxmlformats.org/officeDocument/2006/relationships/tags" Target="../tags/tag19.xml"/><Relationship Id="rId27" Type="http://schemas.openxmlformats.org/officeDocument/2006/relationships/image" Target="../media/image32.svg"/><Relationship Id="rId26" Type="http://schemas.openxmlformats.org/officeDocument/2006/relationships/image" Target="../media/image31.png"/><Relationship Id="rId25" Type="http://schemas.openxmlformats.org/officeDocument/2006/relationships/tags" Target="../tags/tag18.xml"/><Relationship Id="rId24" Type="http://schemas.openxmlformats.org/officeDocument/2006/relationships/image" Target="../media/image30.svg"/><Relationship Id="rId23" Type="http://schemas.openxmlformats.org/officeDocument/2006/relationships/image" Target="../media/image29.png"/><Relationship Id="rId22" Type="http://schemas.openxmlformats.org/officeDocument/2006/relationships/tags" Target="../tags/tag17.xml"/><Relationship Id="rId21" Type="http://schemas.openxmlformats.org/officeDocument/2006/relationships/image" Target="../media/image28.svg"/><Relationship Id="rId20" Type="http://schemas.openxmlformats.org/officeDocument/2006/relationships/image" Target="../media/image27.png"/><Relationship Id="rId2" Type="http://schemas.openxmlformats.org/officeDocument/2006/relationships/tags" Target="../tags/tag1.xml"/><Relationship Id="rId19" Type="http://schemas.openxmlformats.org/officeDocument/2006/relationships/tags" Target="../tags/tag16.xml"/><Relationship Id="rId18" Type="http://schemas.openxmlformats.org/officeDocument/2006/relationships/image" Target="../media/image26.svg"/><Relationship Id="rId17" Type="http://schemas.openxmlformats.org/officeDocument/2006/relationships/image" Target="../media/image25.png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24.pn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3645104"/>
            <a:ext cx="12192000" cy="321289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-1" y="2863273"/>
            <a:ext cx="12192001" cy="8206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等腰三角形 4"/>
          <p:cNvSpPr/>
          <p:nvPr/>
        </p:nvSpPr>
        <p:spPr>
          <a:xfrm rot="10800000">
            <a:off x="-324465" y="3645104"/>
            <a:ext cx="12840929" cy="1059753"/>
          </a:xfrm>
          <a:prstGeom prst="triangle">
            <a:avLst>
              <a:gd name="adj" fmla="val 495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5138" y="-1224195"/>
            <a:ext cx="5613803" cy="3969178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1526058" y="2023995"/>
            <a:ext cx="9139883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7200" b="1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探地雷达(GPR)</a:t>
            </a:r>
            <a:r>
              <a:rPr lang="en-US" altLang="zh-CN" sz="7200" b="1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信号处理</a:t>
            </a:r>
            <a:r>
              <a:rPr lang="zh-CN" altLang="en-US" sz="7200" b="1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技术报告</a:t>
            </a:r>
            <a:endParaRPr lang="zh-CN" altLang="en-US" sz="7200" b="1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8695" y="2510234"/>
            <a:ext cx="4106356" cy="580850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0326" y="2497567"/>
            <a:ext cx="4106356" cy="580850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910080" y="3273593"/>
            <a:ext cx="85039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accent1">
                    <a:lumMod val="50000"/>
                  </a:schemeClr>
                </a:solidFill>
                <a:latin typeface="+mj-ea"/>
                <a:ea typeface="+mj-ea"/>
              </a:rPr>
              <a:t>GPR Signal Processing Technical Report</a:t>
            </a:r>
            <a:endParaRPr lang="en-US" altLang="zh-CN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087" y="4128820"/>
            <a:ext cx="1297380" cy="917298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8444" y="4196415"/>
            <a:ext cx="1049120" cy="74176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466" y="5045466"/>
            <a:ext cx="3379313" cy="2353017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885" y="5021990"/>
            <a:ext cx="2005365" cy="2836622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139" y="5045465"/>
            <a:ext cx="3473447" cy="2353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443842" y="1602149"/>
            <a:ext cx="4013563" cy="389589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729177" y="1876352"/>
            <a:ext cx="3442892" cy="334195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等腰三角形 3"/>
          <p:cNvSpPr/>
          <p:nvPr/>
        </p:nvSpPr>
        <p:spPr>
          <a:xfrm rot="16200000">
            <a:off x="23162" y="1616824"/>
            <a:ext cx="10302766" cy="3604570"/>
          </a:xfrm>
          <a:prstGeom prst="triangl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等腰三角形 2"/>
          <p:cNvSpPr/>
          <p:nvPr/>
        </p:nvSpPr>
        <p:spPr>
          <a:xfrm rot="16200000">
            <a:off x="676035" y="1606932"/>
            <a:ext cx="10302766" cy="360457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等腰三角形 1"/>
          <p:cNvSpPr/>
          <p:nvPr/>
        </p:nvSpPr>
        <p:spPr>
          <a:xfrm rot="16200000">
            <a:off x="1414460" y="1626715"/>
            <a:ext cx="10302766" cy="3604570"/>
          </a:xfrm>
          <a:prstGeom prst="triangle">
            <a:avLst/>
          </a:prstGeom>
          <a:solidFill>
            <a:schemeClr val="bg1"/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7865195" y="0"/>
            <a:ext cx="432680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7022615" y="3744283"/>
            <a:ext cx="913947" cy="88715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7022615" y="777169"/>
            <a:ext cx="913947" cy="88715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7022615" y="2260726"/>
            <a:ext cx="913947" cy="88715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椭圆 13"/>
          <p:cNvSpPr/>
          <p:nvPr/>
        </p:nvSpPr>
        <p:spPr>
          <a:xfrm>
            <a:off x="7022615" y="5257422"/>
            <a:ext cx="913947" cy="88715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184260" y="823006"/>
            <a:ext cx="728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</a:t>
            </a:r>
            <a:endParaRPr lang="zh-CN" altLang="en-US" sz="40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127236" y="2322620"/>
            <a:ext cx="737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</a:t>
            </a:r>
            <a:endParaRPr lang="zh-CN" altLang="en-US" sz="40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7029140" y="3779941"/>
            <a:ext cx="8776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</a:t>
            </a:r>
            <a:endParaRPr lang="zh-CN" altLang="en-US" sz="40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30696" y="5306645"/>
            <a:ext cx="9139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</a:t>
            </a:r>
            <a:endParaRPr lang="zh-CN" altLang="en-US" sz="40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239011" y="812229"/>
            <a:ext cx="4217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原始方法与问题</a:t>
            </a:r>
            <a:endParaRPr lang="zh-CN" altLang="en-US" sz="40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301517" y="2245280"/>
            <a:ext cx="34119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文献调研与改进</a:t>
            </a:r>
            <a:endParaRPr lang="zh-CN" altLang="en-US" sz="40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301517" y="3783310"/>
            <a:ext cx="297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消融指标对比</a:t>
            </a:r>
            <a:endParaRPr lang="zh-CN" altLang="en-US" sz="40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8313835" y="5377693"/>
            <a:ext cx="35242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结论与待解决</a:t>
            </a:r>
            <a:endParaRPr lang="zh-CN" altLang="en-US" sz="40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1559" y="-849874"/>
            <a:ext cx="4161137" cy="2942086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-770237" y="2461461"/>
            <a:ext cx="6096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8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报告目录</a:t>
            </a:r>
            <a:endParaRPr lang="zh-CN" altLang="en-US" sz="88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293599" y="3917903"/>
            <a:ext cx="20466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latin typeface="+mj-ea"/>
                <a:ea typeface="+mj-ea"/>
              </a:rPr>
              <a:t>CONTENTS</a:t>
            </a:r>
            <a:endParaRPr lang="zh-CN" altLang="en-US" sz="24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313835" y="1454411"/>
            <a:ext cx="30946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entre a tile</a:t>
            </a:r>
            <a:endParaRPr lang="zh-CN" altLang="en-US" sz="2000" dirty="0"/>
          </a:p>
        </p:txBody>
      </p:sp>
      <p:sp>
        <p:nvSpPr>
          <p:cNvPr id="8" name="文本框 7"/>
          <p:cNvSpPr txBox="1"/>
          <p:nvPr/>
        </p:nvSpPr>
        <p:spPr>
          <a:xfrm>
            <a:off x="8372884" y="2874635"/>
            <a:ext cx="30946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entre a tile</a:t>
            </a:r>
            <a:endParaRPr lang="zh-CN" altLang="en-US" sz="2000" dirty="0"/>
          </a:p>
        </p:txBody>
      </p:sp>
      <p:sp>
        <p:nvSpPr>
          <p:cNvPr id="9" name="文本框 8"/>
          <p:cNvSpPr txBox="1"/>
          <p:nvPr/>
        </p:nvSpPr>
        <p:spPr>
          <a:xfrm>
            <a:off x="8460140" y="4487827"/>
            <a:ext cx="30946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entre a tile</a:t>
            </a:r>
            <a:endParaRPr lang="zh-CN" altLang="en-US" sz="2000" dirty="0"/>
          </a:p>
        </p:txBody>
      </p:sp>
      <p:sp>
        <p:nvSpPr>
          <p:cNvPr id="10" name="文本框 9"/>
          <p:cNvSpPr txBox="1"/>
          <p:nvPr/>
        </p:nvSpPr>
        <p:spPr>
          <a:xfrm>
            <a:off x="8438732" y="6020516"/>
            <a:ext cx="30946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Please entre a tile</a:t>
            </a:r>
            <a:endParaRPr lang="zh-CN" alt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3645104"/>
            <a:ext cx="12192000" cy="321289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3145810"/>
            <a:ext cx="12192000" cy="5115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等腰三角形 2"/>
          <p:cNvSpPr/>
          <p:nvPr/>
        </p:nvSpPr>
        <p:spPr>
          <a:xfrm rot="10800000">
            <a:off x="-324465" y="3645104"/>
            <a:ext cx="12840929" cy="1059753"/>
          </a:xfrm>
          <a:prstGeom prst="triangle">
            <a:avLst>
              <a:gd name="adj" fmla="val 4952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/>
          <p:cNvSpPr/>
          <p:nvPr/>
        </p:nvSpPr>
        <p:spPr>
          <a:xfrm>
            <a:off x="3213510" y="1953928"/>
            <a:ext cx="1146413" cy="114641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213510" y="1953927"/>
            <a:ext cx="114641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</a:t>
            </a:r>
            <a:endParaRPr lang="zh-CN" altLang="en-US" sz="6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4770090" y="1887378"/>
            <a:ext cx="701494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1. 原始处理方法</a:t>
            </a:r>
            <a:endParaRPr lang="zh-CN" altLang="en-US" sz="66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827883" y="2986066"/>
            <a:ext cx="5105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accent1">
                    <a:lumMod val="50000"/>
                  </a:schemeClr>
                </a:solidFill>
                <a:latin typeface="+mj-ea"/>
                <a:ea typeface="+mj-ea"/>
              </a:rPr>
              <a:t>Baseline Processing Pipeline</a:t>
            </a:r>
            <a:endParaRPr lang="zh-CN" altLang="en-US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  <a:p>
            <a:pPr algn="ctr"/>
            <a:endParaRPr lang="zh-CN" altLang="en-US" sz="2400" b="1" dirty="0">
              <a:solidFill>
                <a:schemeClr val="accent1">
                  <a:lumMod val="50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9740" y="-736009"/>
            <a:ext cx="3920726" cy="2772106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1998" y="-2131690"/>
            <a:ext cx="6958694" cy="15014702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315" y="1272926"/>
            <a:ext cx="6401043" cy="9054379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2598" y="4172642"/>
            <a:ext cx="2822398" cy="39923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90320" y="1557821"/>
            <a:ext cx="562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原始流程与实现</a:t>
            </a:r>
            <a:endParaRPr lang="zh-CN" altLang="en-US" sz="32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229360" y="931861"/>
            <a:ext cx="81280" cy="116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096000" y="1798699"/>
            <a:ext cx="5059680" cy="2226041"/>
          </a:xfrm>
          <a:prstGeom prst="rect">
            <a:avLst/>
          </a:prstGeom>
          <a:blipFill dpi="0" rotWithShape="1"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36320" y="4024740"/>
            <a:ext cx="5059680" cy="230732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>
            <a:off x="1036320" y="1886868"/>
            <a:ext cx="4516120" cy="1745856"/>
          </a:xfrm>
          <a:prstGeom prst="roundRect">
            <a:avLst>
              <a:gd name="adj" fmla="val 31195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处理流程：CSV→reshape(801×79)→AGC→背景抑制→PNG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6639560" y="4473754"/>
            <a:ext cx="4516120" cy="1745856"/>
          </a:xfrm>
          <a:prstGeom prst="roundRect">
            <a:avLst>
              <a:gd name="adj" fmla="val 31195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问题：AGC增益无上限；窗口固定；第79道NaN未处理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478" y="-499744"/>
            <a:ext cx="3460702" cy="2446851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834" y="-19685"/>
            <a:ext cx="1296364" cy="1833727"/>
          </a:xfrm>
          <a:prstGeom prst="rect">
            <a:avLst/>
          </a:prstGeom>
        </p:spPr>
      </p:pic>
      <p:sp>
        <p:nvSpPr>
          <p:cNvPr id="11" name="箭头: 五边形 10"/>
          <p:cNvSpPr/>
          <p:nvPr/>
        </p:nvSpPr>
        <p:spPr>
          <a:xfrm>
            <a:off x="0" y="478074"/>
            <a:ext cx="7266562" cy="642025"/>
          </a:xfrm>
          <a:prstGeom prst="homePlat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V 形 11"/>
          <p:cNvSpPr/>
          <p:nvPr/>
        </p:nvSpPr>
        <p:spPr>
          <a:xfrm>
            <a:off x="7072641" y="478073"/>
            <a:ext cx="523925" cy="642025"/>
          </a:xfrm>
          <a:prstGeom prst="chevron">
            <a:avLst>
              <a:gd name="adj" fmla="val 62487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箭头: V 形 12"/>
          <p:cNvSpPr/>
          <p:nvPr/>
        </p:nvSpPr>
        <p:spPr>
          <a:xfrm>
            <a:off x="7424379" y="478073"/>
            <a:ext cx="427941" cy="642025"/>
          </a:xfrm>
          <a:prstGeom prst="chevron">
            <a:avLst>
              <a:gd name="adj" fmla="val 7604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箭头: V 形 16"/>
          <p:cNvSpPr/>
          <p:nvPr/>
        </p:nvSpPr>
        <p:spPr>
          <a:xfrm>
            <a:off x="7755773" y="478073"/>
            <a:ext cx="373468" cy="642025"/>
          </a:xfrm>
          <a:prstGeom prst="chevron">
            <a:avLst>
              <a:gd name="adj" fmla="val 8575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2997" y="461745"/>
            <a:ext cx="5393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关键参数</a:t>
            </a:r>
            <a:endParaRPr lang="zh-CN" altLang="en-US" sz="3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直角三角形 18"/>
          <p:cNvSpPr/>
          <p:nvPr/>
        </p:nvSpPr>
        <p:spPr>
          <a:xfrm rot="10800000">
            <a:off x="-27021" y="1120093"/>
            <a:ext cx="629302" cy="425719"/>
          </a:xfrm>
          <a:prstGeom prst="rtTriangle">
            <a:avLst/>
          </a:prstGeom>
          <a:solidFill>
            <a:schemeClr val="accent1">
              <a:lumMod val="75000"/>
              <a:alpha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76057" y="1165950"/>
            <a:ext cx="5544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AGC窗口=151；背景抑制ntraces=79</a:t>
            </a:r>
            <a:endParaRPr lang="zh-CN" altLang="en-US" sz="2000" dirty="0">
              <a:solidFill>
                <a:schemeClr val="tx1">
                  <a:lumMod val="50000"/>
                  <a:lumOff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145" y="390907"/>
            <a:ext cx="891058" cy="1260416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301" y="-83132"/>
            <a:ext cx="1429499" cy="202204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79" y="-101986"/>
            <a:ext cx="1218069" cy="2177058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196" y="161575"/>
            <a:ext cx="1057173" cy="14953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-120000">
            <a:off x="-1670205" y="368258"/>
            <a:ext cx="6806817" cy="9628353"/>
          </a:xfrm>
          <a:prstGeom prst="rect">
            <a:avLst/>
          </a:prstGeom>
        </p:spPr>
      </p:pic>
      <p:sp>
        <p:nvSpPr>
          <p:cNvPr id="4" name="椭圆 3"/>
          <p:cNvSpPr/>
          <p:nvPr>
            <p:custDataLst>
              <p:tags r:id="rId2"/>
            </p:custDataLst>
          </p:nvPr>
        </p:nvSpPr>
        <p:spPr>
          <a:xfrm>
            <a:off x="2015600" y="2617505"/>
            <a:ext cx="586619" cy="58661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等腰三角形 5"/>
          <p:cNvSpPr/>
          <p:nvPr>
            <p:custDataLst>
              <p:tags r:id="rId3"/>
            </p:custDataLst>
          </p:nvPr>
        </p:nvSpPr>
        <p:spPr>
          <a:xfrm rot="16200000">
            <a:off x="2055596" y="2692609"/>
            <a:ext cx="1679864" cy="436414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3113735" y="2070886"/>
            <a:ext cx="3203862" cy="16798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>
            <p:custDataLst>
              <p:tags r:id="rId5"/>
            </p:custDataLst>
          </p:nvPr>
        </p:nvSpPr>
        <p:spPr>
          <a:xfrm>
            <a:off x="7031106" y="2617503"/>
            <a:ext cx="586619" cy="586619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等腰三角形 8"/>
          <p:cNvSpPr/>
          <p:nvPr>
            <p:custDataLst>
              <p:tags r:id="rId6"/>
            </p:custDataLst>
          </p:nvPr>
        </p:nvSpPr>
        <p:spPr>
          <a:xfrm rot="16200000">
            <a:off x="7071102" y="2692607"/>
            <a:ext cx="1679864" cy="436414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>
            <p:custDataLst>
              <p:tags r:id="rId7"/>
            </p:custDataLst>
          </p:nvPr>
        </p:nvSpPr>
        <p:spPr>
          <a:xfrm>
            <a:off x="8129241" y="2070884"/>
            <a:ext cx="3203862" cy="167986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" name="椭圆 10"/>
          <p:cNvSpPr/>
          <p:nvPr>
            <p:custDataLst>
              <p:tags r:id="rId8"/>
            </p:custDataLst>
          </p:nvPr>
        </p:nvSpPr>
        <p:spPr>
          <a:xfrm>
            <a:off x="2015600" y="4884455"/>
            <a:ext cx="586619" cy="586619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等腰三角形 11"/>
          <p:cNvSpPr/>
          <p:nvPr>
            <p:custDataLst>
              <p:tags r:id="rId9"/>
            </p:custDataLst>
          </p:nvPr>
        </p:nvSpPr>
        <p:spPr>
          <a:xfrm rot="16200000">
            <a:off x="2055596" y="4959559"/>
            <a:ext cx="1679864" cy="436414"/>
          </a:xfrm>
          <a:prstGeom prst="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>
            <p:custDataLst>
              <p:tags r:id="rId10"/>
            </p:custDataLst>
          </p:nvPr>
        </p:nvSpPr>
        <p:spPr>
          <a:xfrm>
            <a:off x="3113735" y="4337836"/>
            <a:ext cx="3203862" cy="167986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1"/>
            </p:custDataLst>
          </p:nvPr>
        </p:nvSpPr>
        <p:spPr>
          <a:xfrm>
            <a:off x="7031106" y="4884453"/>
            <a:ext cx="586619" cy="58661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等腰三角形 14"/>
          <p:cNvSpPr/>
          <p:nvPr>
            <p:custDataLst>
              <p:tags r:id="rId12"/>
            </p:custDataLst>
          </p:nvPr>
        </p:nvSpPr>
        <p:spPr>
          <a:xfrm rot="16200000">
            <a:off x="7071102" y="4959557"/>
            <a:ext cx="1679864" cy="436414"/>
          </a:xfrm>
          <a:prstGeom prst="triangl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/>
          <p:cNvSpPr/>
          <p:nvPr>
            <p:custDataLst>
              <p:tags r:id="rId13"/>
            </p:custDataLst>
          </p:nvPr>
        </p:nvSpPr>
        <p:spPr>
          <a:xfrm>
            <a:off x="8129241" y="4334024"/>
            <a:ext cx="3203862" cy="16798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4"/>
            </p:custDataLst>
          </p:nvPr>
        </p:nvSpPr>
        <p:spPr>
          <a:xfrm>
            <a:off x="3113735" y="2099233"/>
            <a:ext cx="3203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改进A：SVD低秩</a:t>
            </a:r>
            <a:endParaRPr lang="zh-CN" altLang="en-US" sz="24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5"/>
            </p:custDataLst>
          </p:nvPr>
        </p:nvSpPr>
        <p:spPr>
          <a:xfrm>
            <a:off x="3113735" y="2617503"/>
            <a:ext cx="3203862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rank=1；SNR 11.64 dB；0.65s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24" name="图形 23" descr="头上的大脑 纯色填充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062224" y="2666912"/>
            <a:ext cx="491672" cy="491672"/>
          </a:xfrm>
          <a:prstGeom prst="rect">
            <a:avLst/>
          </a:prstGeom>
        </p:spPr>
      </p:pic>
      <p:pic>
        <p:nvPicPr>
          <p:cNvPr id="26" name="图形 25" descr="拼图 纯色填充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058774" y="2640465"/>
            <a:ext cx="540693" cy="540693"/>
          </a:xfrm>
          <a:prstGeom prst="rect">
            <a:avLst/>
          </a:prstGeom>
        </p:spPr>
      </p:pic>
      <p:pic>
        <p:nvPicPr>
          <p:cNvPr id="28" name="图形 27" descr="灯泡和齿轮 纯色填充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062060" y="4931844"/>
            <a:ext cx="491836" cy="491836"/>
          </a:xfrm>
          <a:prstGeom prst="rect">
            <a:avLst/>
          </a:prstGeom>
        </p:spPr>
      </p:pic>
      <p:pic>
        <p:nvPicPr>
          <p:cNvPr id="30" name="图形 29" descr="社交网络 纯色填充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072630" y="4920173"/>
            <a:ext cx="515178" cy="515178"/>
          </a:xfrm>
          <a:prstGeom prst="rect">
            <a:avLst/>
          </a:prstGeom>
        </p:spPr>
      </p:pic>
      <p:sp>
        <p:nvSpPr>
          <p:cNvPr id="32" name="文本框 31"/>
          <p:cNvSpPr txBox="1"/>
          <p:nvPr>
            <p:custDataLst>
              <p:tags r:id="rId28"/>
            </p:custDataLst>
          </p:nvPr>
        </p:nvSpPr>
        <p:spPr>
          <a:xfrm>
            <a:off x="8129241" y="2070879"/>
            <a:ext cx="32677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改进B：AGC增益上限</a:t>
            </a:r>
            <a:endParaRPr lang="zh-CN" altLang="en-US" sz="24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29"/>
            </p:custDataLst>
          </p:nvPr>
        </p:nvSpPr>
        <p:spPr>
          <a:xfrm>
            <a:off x="8130980" y="2617503"/>
            <a:ext cx="3202123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+mn-ea"/>
              </a:rPr>
              <a:t>window=301，cap=10；SNR 8.33 dB</a:t>
            </a:r>
            <a:endParaRPr lang="zh-CN" altLang="en-US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3072420" y="4884453"/>
            <a:ext cx="3203862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+mn-ea"/>
              </a:rPr>
              <a:t>AGC+滑动平均；SNR 11.97 dB</a:t>
            </a:r>
            <a:endParaRPr lang="zh-CN" altLang="en-US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文本框 37"/>
          <p:cNvSpPr txBox="1"/>
          <p:nvPr>
            <p:custDataLst>
              <p:tags r:id="rId31"/>
            </p:custDataLst>
          </p:nvPr>
        </p:nvSpPr>
        <p:spPr>
          <a:xfrm>
            <a:off x="8129241" y="4900757"/>
            <a:ext cx="3203862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tx1"/>
                </a:solidFill>
                <a:latin typeface="+mn-ea"/>
              </a:rPr>
              <a:t>SVD接近基线且更快；AGC需调参</a:t>
            </a:r>
            <a:endParaRPr lang="zh-CN" altLang="en-US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9" name="文本框 38"/>
          <p:cNvSpPr txBox="1"/>
          <p:nvPr>
            <p:custDataLst>
              <p:tags r:id="rId32"/>
            </p:custDataLst>
          </p:nvPr>
        </p:nvSpPr>
        <p:spPr>
          <a:xfrm>
            <a:off x="3113735" y="4334278"/>
            <a:ext cx="3203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基线方法</a:t>
            </a:r>
            <a:endParaRPr lang="zh-CN" altLang="en-US" sz="24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33"/>
            </p:custDataLst>
          </p:nvPr>
        </p:nvSpPr>
        <p:spPr>
          <a:xfrm>
            <a:off x="8129241" y="4337829"/>
            <a:ext cx="3203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结论</a:t>
            </a:r>
            <a:endParaRPr lang="zh-CN" altLang="en-US" sz="24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90320" y="1459847"/>
            <a:ext cx="562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改进方法与结果</a:t>
            </a:r>
            <a:endParaRPr lang="zh-CN" altLang="en-US" sz="32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29360" y="1013506"/>
            <a:ext cx="81280" cy="116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79" y="-101986"/>
            <a:ext cx="1218069" cy="2177058"/>
          </a:xfrm>
          <a:prstGeom prst="rect">
            <a:avLst/>
          </a:prstGeom>
        </p:spPr>
      </p:pic>
      <p:sp>
        <p:nvSpPr>
          <p:cNvPr id="47" name="箭头: 五边形 46"/>
          <p:cNvSpPr/>
          <p:nvPr/>
        </p:nvSpPr>
        <p:spPr>
          <a:xfrm>
            <a:off x="0" y="478074"/>
            <a:ext cx="7266562" cy="642025"/>
          </a:xfrm>
          <a:prstGeom prst="homePlate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箭头: V 形 47"/>
          <p:cNvSpPr/>
          <p:nvPr/>
        </p:nvSpPr>
        <p:spPr>
          <a:xfrm>
            <a:off x="7072641" y="478073"/>
            <a:ext cx="523925" cy="642025"/>
          </a:xfrm>
          <a:prstGeom prst="chevron">
            <a:avLst>
              <a:gd name="adj" fmla="val 62487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9" name="箭头: V 形 48"/>
          <p:cNvSpPr/>
          <p:nvPr/>
        </p:nvSpPr>
        <p:spPr>
          <a:xfrm>
            <a:off x="7424379" y="478073"/>
            <a:ext cx="427941" cy="642025"/>
          </a:xfrm>
          <a:prstGeom prst="chevron">
            <a:avLst>
              <a:gd name="adj" fmla="val 76041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0" name="箭头: V 形 49"/>
          <p:cNvSpPr/>
          <p:nvPr/>
        </p:nvSpPr>
        <p:spPr>
          <a:xfrm>
            <a:off x="7755773" y="478073"/>
            <a:ext cx="373468" cy="642025"/>
          </a:xfrm>
          <a:prstGeom prst="chevron">
            <a:avLst>
              <a:gd name="adj" fmla="val 8575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752997" y="461745"/>
            <a:ext cx="5393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性能对比结论</a:t>
            </a:r>
            <a:endParaRPr lang="zh-CN" altLang="en-US" sz="36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2" name="直角三角形 51"/>
          <p:cNvSpPr/>
          <p:nvPr/>
        </p:nvSpPr>
        <p:spPr>
          <a:xfrm rot="10800000">
            <a:off x="-27021" y="1120093"/>
            <a:ext cx="629302" cy="425719"/>
          </a:xfrm>
          <a:prstGeom prst="rtTriangle">
            <a:avLst/>
          </a:prstGeom>
          <a:solidFill>
            <a:schemeClr val="accent1">
              <a:lumMod val="75000"/>
              <a:alpha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776057" y="1165950"/>
            <a:ext cx="5544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SVD接近基线且更快；AGC需调参</a:t>
            </a:r>
            <a:endParaRPr lang="zh-CN" altLang="en-US" sz="2000" dirty="0">
              <a:solidFill>
                <a:schemeClr val="tx1">
                  <a:lumMod val="50000"/>
                  <a:lumOff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6145" y="309262"/>
            <a:ext cx="891058" cy="1260416"/>
          </a:xfrm>
          <a:prstGeom prst="rect">
            <a:avLst/>
          </a:prstGeom>
        </p:spPr>
      </p:pic>
      <p:pic>
        <p:nvPicPr>
          <p:cNvPr id="55" name="图片 54"/>
          <p:cNvPicPr>
            <a:picLocks noChangeAspect="1"/>
          </p:cNvPicPr>
          <p:nvPr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196" y="166310"/>
            <a:ext cx="1057173" cy="1495387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5058" y="-94640"/>
            <a:ext cx="1429499" cy="2022049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336" y="-104868"/>
            <a:ext cx="1218069" cy="2177058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478" y="-499744"/>
            <a:ext cx="3460702" cy="24468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-37465" y="-38100"/>
            <a:ext cx="12302490" cy="689483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/>
        </p:nvSpPr>
        <p:spPr>
          <a:xfrm rot="5400000">
            <a:off x="1414460" y="1626715"/>
            <a:ext cx="10302766" cy="3604570"/>
          </a:xfrm>
          <a:prstGeom prst="triangl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等腰三角形 2"/>
          <p:cNvSpPr/>
          <p:nvPr/>
        </p:nvSpPr>
        <p:spPr>
          <a:xfrm rot="5400000">
            <a:off x="676035" y="1606932"/>
            <a:ext cx="10302766" cy="360457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等腰三角形 3"/>
          <p:cNvSpPr/>
          <p:nvPr/>
        </p:nvSpPr>
        <p:spPr>
          <a:xfrm rot="5400000">
            <a:off x="23162" y="1616824"/>
            <a:ext cx="10302766" cy="3604570"/>
          </a:xfrm>
          <a:prstGeom prst="triangle">
            <a:avLst/>
          </a:prstGeom>
          <a:solidFill>
            <a:schemeClr val="bg1"/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 rot="10800000">
            <a:off x="-167005" y="-149860"/>
            <a:ext cx="4191635" cy="70084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8092" y="1935681"/>
            <a:ext cx="507428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>
                <a:solidFill>
                  <a:schemeClr val="accent1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谢谢观看</a:t>
            </a:r>
            <a:endParaRPr lang="zh-CN" altLang="en-US" sz="9600" dirty="0">
              <a:solidFill>
                <a:schemeClr val="accent1">
                  <a:lumMod val="50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4963" y="3509622"/>
            <a:ext cx="69522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>Thank you</a:t>
            </a:r>
            <a:r>
              <a:rPr lang="zh-CN" altLang="en-US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 xml:space="preserve"> </a:t>
            </a:r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>for</a:t>
            </a:r>
            <a:r>
              <a:rPr lang="zh-CN" altLang="en-US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 xml:space="preserve"> </a:t>
            </a:r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>watching</a:t>
            </a:r>
            <a:r>
              <a:rPr lang="zh-CN" altLang="en-US" sz="4800" dirty="0">
                <a:solidFill>
                  <a:schemeClr val="accent1">
                    <a:lumMod val="50000"/>
                  </a:schemeClr>
                </a:solidFill>
                <a:latin typeface="+mn-ea"/>
              </a:rPr>
              <a:t xml:space="preserve"> </a:t>
            </a:r>
            <a:endParaRPr lang="zh-CN" altLang="en-US" sz="4800" dirty="0">
              <a:solidFill>
                <a:schemeClr val="accent1">
                  <a:lumMod val="50000"/>
                </a:schemeClr>
              </a:solidFill>
              <a:latin typeface="+mn-ea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56" y="-849874"/>
            <a:ext cx="4161137" cy="2942086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6566" y="108020"/>
            <a:ext cx="7474443" cy="10572719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90880" y="6355715"/>
            <a:ext cx="36683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203864"/>
                </a:solidFill>
              </a:rPr>
              <a:t>GPR报告</a:t>
            </a:r>
            <a:r>
              <a:rPr lang="zh-CN" altLang="en-US" sz="1600">
                <a:solidFill>
                  <a:srgbClr val="203864"/>
                </a:solidFill>
              </a:rPr>
              <a:t>设计</a:t>
            </a:r>
            <a:r>
              <a:rPr lang="en-US" altLang="zh-CN" sz="1600">
                <a:solidFill>
                  <a:srgbClr val="203864"/>
                </a:solidFill>
              </a:rPr>
              <a:t xml:space="preserve"> </a:t>
            </a:r>
            <a:r>
              <a:rPr lang="zh-CN" altLang="en-US" sz="1600">
                <a:solidFill>
                  <a:srgbClr val="203864"/>
                </a:solidFill>
              </a:rPr>
              <a:t>：向映妮</a:t>
            </a:r>
            <a:r>
              <a:rPr lang="en-US" altLang="zh-CN" sz="1600">
                <a:solidFill>
                  <a:srgbClr val="203864"/>
                </a:solidFill>
              </a:rPr>
              <a:t xml:space="preserve">   </a:t>
            </a:r>
            <a:r>
              <a:rPr lang="zh-CN" altLang="en-US" sz="1600">
                <a:solidFill>
                  <a:srgbClr val="203864"/>
                </a:solidFill>
              </a:rPr>
              <a:t>指导老师：张艳</a:t>
            </a:r>
            <a:endParaRPr lang="zh-CN" altLang="en-US" sz="1600">
              <a:solidFill>
                <a:srgbClr val="203864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3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4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5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6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7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8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9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0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1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2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3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4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5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6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7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8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19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0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1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2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3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4.xml><?xml version="1.0" encoding="utf-8"?>
<p:tagLst xmlns:p="http://schemas.openxmlformats.org/presentationml/2006/main">
  <p:tag name="KSO_WM_DIAGRAM_VIRTUALLY_FRAME" val="{&quot;height&quot;:326.1533070866142,&quot;left&quot;:100.62377952755905,&quot;top&quot;:147.68133858267714,&quot;width&quot;:796.7787401574802}"/>
</p:tagLst>
</file>

<file path=ppt/tags/tag25.xml><?xml version="1.0" encoding="utf-8"?>
<p:tagLst xmlns:p="http://schemas.openxmlformats.org/presentationml/2006/main">
  <p:tag name="COMMONDATA" val="eyJoZGlkIjoiY2I1OGY1YTNlMjQ3ZmI2ZGJjYWRlMmY0NmVmYTEzMTUifQ=="/>
  <p:tag name="commondata" val="eyJoZGlkIjoiODViY2JkMjU3NGYzZTEwMzZmMGFkZWViYmNkYWU3N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608</Words>
  <Application>WPS 演示</Application>
  <PresentationFormat>宽屏</PresentationFormat>
  <Paragraphs>138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宋体</vt:lpstr>
      <vt:lpstr>Wingdings</vt:lpstr>
      <vt:lpstr>黑体</vt:lpstr>
      <vt:lpstr>等线</vt:lpstr>
      <vt:lpstr>等线 Light</vt:lpstr>
      <vt:lpstr>微软雅黑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映昵 向</dc:creator>
  <cp:lastModifiedBy>邹俐均</cp:lastModifiedBy>
  <cp:revision>38</cp:revision>
  <dcterms:created xsi:type="dcterms:W3CDTF">2024-05-06T14:11:00Z</dcterms:created>
  <dcterms:modified xsi:type="dcterms:W3CDTF">2024-06-03T09:47:57Z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71EBC29B06834F26B485FA1E5FCD2594_12</vt:lpwstr>
  </property>
  <property fmtid="{D5CDD505-2E9C-101B-9397-08002B2CF9AE}" pid="3" name="KSOProductBuildVer">
    <vt:lpwstr>2052-12.1.0.16929</vt:lpwstr>
  </property>
</Properties>
</file>