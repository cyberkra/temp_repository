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85" r:id="rId3"/>
    <p:sldId id="266" r:id="rId4"/>
    <p:sldId id="258" r:id="rId5"/>
    <p:sldId id="260" r:id="rId6"/>
    <p:sldId id="265" r:id="rId11"/>
    <p:sldId id="275" r:id="rId14"/>
  </p:sldIdLst>
  <p:sldSz cx="12192000" cy="6858000"/>
  <p:notesSz cx="6858000" cy="9144000"/>
  <p:custDataLst>
    <p:tags r:id="rId18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75" autoAdjust="0"/>
    <p:restoredTop sz="95026" autoAdjust="0"/>
  </p:normalViewPr>
  <p:slideViewPr>
    <p:cSldViewPr snapToGrid="0">
      <p:cViewPr>
        <p:scale>
          <a:sx n="81" d="100"/>
          <a:sy n="81" d="100"/>
        </p:scale>
        <p:origin x="173" y="-6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9" Type="http://schemas.openxmlformats.org/officeDocument/2006/relationships/notesMaster" Target="notesMasters/notesMaster1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gs" Target="tags/tag25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1.xml"/><Relationship Id="rId11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37FA5-3328-4E1C-AFF1-FDE307A55A4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A37723-60A2-4A5F-A786-3B10A284F14C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712B30-B520-4610-A329-80457D7D01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A83B8C-6552-43C9-94CF-8DC954752583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?>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12.png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4.xml.rels><?xml version="1.0" encoding="UTF-8"?>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18.png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3" Type="http://schemas.openxmlformats.org/officeDocument/2006/relationships/image" Target="../media/image9.png"/><Relationship Id="rId2" Type="http://schemas.openxmlformats.org/officeDocument/2006/relationships/image" Target="../media/image14.jpeg"/><Relationship Id="rId1" Type="http://schemas.openxmlformats.org/officeDocument/2006/relationships/image" Target="../media/image13.jpeg"/></Relationships>
</file>

<file path=ppt/slides/_rels/slide8.xml.rels><?xml version="1.0" encoding="UTF-8"?>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9" Type="http://schemas.openxmlformats.org/officeDocument/2006/relationships/slideLayout" Target="../slideLayouts/slideLayout7.xml"/><Relationship Id="rId38" Type="http://schemas.openxmlformats.org/officeDocument/2006/relationships/image" Target="../media/image9.png"/><Relationship Id="rId37" Type="http://schemas.openxmlformats.org/officeDocument/2006/relationships/image" Target="../media/image17.png"/><Relationship Id="rId36" Type="http://schemas.openxmlformats.org/officeDocument/2006/relationships/image" Target="../media/image15.png"/><Relationship Id="rId35" Type="http://schemas.openxmlformats.org/officeDocument/2006/relationships/image" Target="../media/image16.png"/><Relationship Id="rId34" Type="http://schemas.openxmlformats.org/officeDocument/2006/relationships/image" Target="../media/image18.png"/><Relationship Id="rId33" Type="http://schemas.openxmlformats.org/officeDocument/2006/relationships/tags" Target="../tags/tag24.xml"/><Relationship Id="rId32" Type="http://schemas.openxmlformats.org/officeDocument/2006/relationships/tags" Target="../tags/tag23.xml"/><Relationship Id="rId31" Type="http://schemas.openxmlformats.org/officeDocument/2006/relationships/tags" Target="../tags/tag22.xml"/><Relationship Id="rId30" Type="http://schemas.openxmlformats.org/officeDocument/2006/relationships/tags" Target="../tags/tag21.xml"/><Relationship Id="rId3" Type="http://schemas.openxmlformats.org/officeDocument/2006/relationships/tags" Target="../tags/tag2.xml"/><Relationship Id="rId29" Type="http://schemas.openxmlformats.org/officeDocument/2006/relationships/tags" Target="../tags/tag20.xml"/><Relationship Id="rId28" Type="http://schemas.openxmlformats.org/officeDocument/2006/relationships/tags" Target="../tags/tag19.xml"/><Relationship Id="rId27" Type="http://schemas.openxmlformats.org/officeDocument/2006/relationships/image" Target="../media/image32.svg"/><Relationship Id="rId26" Type="http://schemas.openxmlformats.org/officeDocument/2006/relationships/image" Target="../media/image31.png"/><Relationship Id="rId25" Type="http://schemas.openxmlformats.org/officeDocument/2006/relationships/tags" Target="../tags/tag18.xml"/><Relationship Id="rId24" Type="http://schemas.openxmlformats.org/officeDocument/2006/relationships/image" Target="../media/image30.svg"/><Relationship Id="rId23" Type="http://schemas.openxmlformats.org/officeDocument/2006/relationships/image" Target="../media/image29.png"/><Relationship Id="rId22" Type="http://schemas.openxmlformats.org/officeDocument/2006/relationships/tags" Target="../tags/tag17.xml"/><Relationship Id="rId21" Type="http://schemas.openxmlformats.org/officeDocument/2006/relationships/image" Target="../media/image28.svg"/><Relationship Id="rId20" Type="http://schemas.openxmlformats.org/officeDocument/2006/relationships/image" Target="../media/image27.png"/><Relationship Id="rId2" Type="http://schemas.openxmlformats.org/officeDocument/2006/relationships/tags" Target="../tags/tag1.xml"/><Relationship Id="rId19" Type="http://schemas.openxmlformats.org/officeDocument/2006/relationships/tags" Target="../tags/tag16.xml"/><Relationship Id="rId18" Type="http://schemas.openxmlformats.org/officeDocument/2006/relationships/image" Target="../media/image26.svg"/><Relationship Id="rId17" Type="http://schemas.openxmlformats.org/officeDocument/2006/relationships/image" Target="../media/image25.png"/><Relationship Id="rId16" Type="http://schemas.openxmlformats.org/officeDocument/2006/relationships/tags" Target="../tags/tag15.xml"/><Relationship Id="rId15" Type="http://schemas.openxmlformats.org/officeDocument/2006/relationships/tags" Target="../tags/tag14.xml"/><Relationship Id="rId14" Type="http://schemas.openxmlformats.org/officeDocument/2006/relationships/tags" Target="../tags/tag13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image" Target="../media/image24.png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3645104"/>
            <a:ext cx="12192000" cy="3212896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0" y="3145810"/>
            <a:ext cx="12192000" cy="5115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等腰三角形 2"/>
          <p:cNvSpPr/>
          <p:nvPr/>
        </p:nvSpPr>
        <p:spPr>
          <a:xfrm rot="10800000">
            <a:off x="-324465" y="3645104"/>
            <a:ext cx="12840929" cy="1059753"/>
          </a:xfrm>
          <a:prstGeom prst="triangle">
            <a:avLst>
              <a:gd name="adj" fmla="val 4952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: 圆角 4"/>
          <p:cNvSpPr/>
          <p:nvPr/>
        </p:nvSpPr>
        <p:spPr>
          <a:xfrm>
            <a:off x="3213510" y="1953928"/>
            <a:ext cx="1146413" cy="1146413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3213510" y="1953927"/>
            <a:ext cx="114641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6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endParaRPr lang="zh-CN" altLang="en-US" sz="66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4770090" y="1887378"/>
            <a:ext cx="701494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660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探地雷达(GPR)信号处理技术报告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4827883" y="2986066"/>
            <a:ext cx="51050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accent1">
                    <a:lumMod val="50000"/>
                  </a:schemeClr>
                </a:solidFill>
                <a:latin typeface="+mj-ea"/>
                <a:ea typeface="+mj-ea"/>
              </a:rPr>
              <a:t>GPR Signal Processing Technical Report</a:t>
            </a:r>
            <a:endParaRPr lang="zh-CN" altLang="en-US" sz="2400" b="1" dirty="0">
              <a:solidFill>
                <a:schemeClr val="accent1">
                  <a:lumMod val="50000"/>
                </a:schemeClr>
              </a:solidFill>
              <a:latin typeface="+mj-ea"/>
              <a:ea typeface="+mj-ea"/>
            </a:endParaRPr>
          </a:p>
          <a:p>
            <a:pPr algn="ctr"/>
            <a:endParaRPr lang="zh-CN" altLang="en-US" sz="2400" b="1" dirty="0">
              <a:solidFill>
                <a:schemeClr val="accent1">
                  <a:lumMod val="50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9740" y="-736009"/>
            <a:ext cx="3920726" cy="2772106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91998" y="-2131690"/>
            <a:ext cx="6958694" cy="15014702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915"/>
          <a:stretch/>
        </p:blipFill>
        <p:spPr>
          <a:xfrm>
            <a:off x="4312984" y="4833257"/>
            <a:ext cx="6401043" cy="5440260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2598" y="4172642"/>
            <a:ext cx="2822398" cy="399232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/>
          <p:cNvSpPr txBox="1"/>
          <p:nvPr/>
        </p:nvSpPr>
        <p:spPr>
          <a:xfrm>
            <a:off x="1429309" y="1908944"/>
            <a:ext cx="4349262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原始方法与问题</a:t>
            </a:r>
          </a:p>
        </p:txBody>
      </p:sp>
      <p:sp>
        <p:nvSpPr>
          <p:cNvPr id="43" name="文本框 42"/>
          <p:cNvSpPr txBox="1"/>
          <p:nvPr/>
        </p:nvSpPr>
        <p:spPr>
          <a:xfrm>
            <a:off x="1468755" y="2370455"/>
            <a:ext cx="94976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原始方法与问题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1290320" y="1459847"/>
            <a:ext cx="562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结论与待解决</a:t>
            </a:r>
          </a:p>
        </p:txBody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9301" y="-83132"/>
            <a:ext cx="1429499" cy="2022049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4579" y="-101986"/>
            <a:ext cx="1218069" cy="2177058"/>
          </a:xfrm>
          <a:prstGeom prst="rect">
            <a:avLst/>
          </a:prstGeom>
        </p:spPr>
      </p:pic>
      <p:sp>
        <p:nvSpPr>
          <p:cNvPr id="25" name="箭头: 五边形 24"/>
          <p:cNvSpPr/>
          <p:nvPr/>
        </p:nvSpPr>
        <p:spPr>
          <a:xfrm>
            <a:off x="0" y="478074"/>
            <a:ext cx="7266562" cy="642025"/>
          </a:xfrm>
          <a:prstGeom prst="homePlate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箭头: V 形 25"/>
          <p:cNvSpPr/>
          <p:nvPr/>
        </p:nvSpPr>
        <p:spPr>
          <a:xfrm>
            <a:off x="7072641" y="478073"/>
            <a:ext cx="523925" cy="642025"/>
          </a:xfrm>
          <a:prstGeom prst="chevron">
            <a:avLst>
              <a:gd name="adj" fmla="val 62487"/>
            </a:avLst>
          </a:prstGeom>
          <a:solidFill>
            <a:schemeClr val="accent1">
              <a:lumMod val="7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7" name="箭头: V 形 26"/>
          <p:cNvSpPr/>
          <p:nvPr/>
        </p:nvSpPr>
        <p:spPr>
          <a:xfrm>
            <a:off x="7424379" y="478073"/>
            <a:ext cx="427941" cy="642025"/>
          </a:xfrm>
          <a:prstGeom prst="chevron">
            <a:avLst>
              <a:gd name="adj" fmla="val 76041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8" name="箭头: V 形 27"/>
          <p:cNvSpPr/>
          <p:nvPr/>
        </p:nvSpPr>
        <p:spPr>
          <a:xfrm>
            <a:off x="7755773" y="478073"/>
            <a:ext cx="373468" cy="642025"/>
          </a:xfrm>
          <a:prstGeom prst="chevron">
            <a:avLst>
              <a:gd name="adj" fmla="val 85754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752997" y="461745"/>
            <a:ext cx="5393803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报告目录</a:t>
            </a:r>
          </a:p>
        </p:txBody>
      </p:sp>
      <p:sp>
        <p:nvSpPr>
          <p:cNvPr id="31" name="直角三角形 30"/>
          <p:cNvSpPr/>
          <p:nvPr/>
        </p:nvSpPr>
        <p:spPr>
          <a:xfrm rot="10800000">
            <a:off x="-27021" y="1120093"/>
            <a:ext cx="629302" cy="425719"/>
          </a:xfrm>
          <a:prstGeom prst="rtTriangle">
            <a:avLst/>
          </a:prstGeom>
          <a:solidFill>
            <a:schemeClr val="accent1">
              <a:lumMod val="75000"/>
              <a:alpha val="6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/>
          <p:cNvSpPr txBox="1"/>
          <p:nvPr/>
        </p:nvSpPr>
        <p:spPr>
          <a:xfrm>
            <a:off x="776057" y="1165950"/>
            <a:ext cx="5544273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结论与待解决</a:t>
            </a:r>
          </a:p>
        </p:txBody>
      </p:sp>
      <p:pic>
        <p:nvPicPr>
          <p:cNvPr id="37" name="图片 3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6145" y="309262"/>
            <a:ext cx="891058" cy="1260416"/>
          </a:xfrm>
          <a:prstGeom prst="rect">
            <a:avLst/>
          </a:prstGeom>
        </p:spPr>
      </p:pic>
      <p:pic>
        <p:nvPicPr>
          <p:cNvPr id="46" name="图片 4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8196" y="166310"/>
            <a:ext cx="1057173" cy="1495387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2289" y="-86698"/>
            <a:ext cx="1429499" cy="2022049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7567" y="-105552"/>
            <a:ext cx="1218069" cy="2177058"/>
          </a:xfrm>
          <a:prstGeom prst="rect">
            <a:avLst/>
          </a:prstGeom>
        </p:spPr>
      </p:pic>
      <p:cxnSp>
        <p:nvCxnSpPr>
          <p:cNvPr id="14" name="直接连接符 13"/>
          <p:cNvCxnSpPr/>
          <p:nvPr/>
        </p:nvCxnSpPr>
        <p:spPr>
          <a:xfrm>
            <a:off x="1170264" y="3118908"/>
            <a:ext cx="9505950" cy="4445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椭圆 17"/>
          <p:cNvSpPr/>
          <p:nvPr/>
        </p:nvSpPr>
        <p:spPr>
          <a:xfrm>
            <a:off x="10676131" y="3076963"/>
            <a:ext cx="101968" cy="1019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椭圆 18"/>
          <p:cNvSpPr/>
          <p:nvPr/>
        </p:nvSpPr>
        <p:spPr>
          <a:xfrm>
            <a:off x="1068296" y="3068574"/>
            <a:ext cx="101968" cy="1019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箭头: V 形 19"/>
          <p:cNvSpPr/>
          <p:nvPr/>
        </p:nvSpPr>
        <p:spPr>
          <a:xfrm rot="5400000">
            <a:off x="907924" y="2298114"/>
            <a:ext cx="357945" cy="604019"/>
          </a:xfrm>
          <a:prstGeom prst="chevron">
            <a:avLst>
              <a:gd name="adj" fmla="val 48413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1429309" y="3512393"/>
            <a:ext cx="4349262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文献调研与改进思路</a:t>
            </a:r>
          </a:p>
        </p:txBody>
      </p:sp>
      <p:sp>
        <p:nvSpPr>
          <p:cNvPr id="48" name="椭圆 47"/>
          <p:cNvSpPr/>
          <p:nvPr/>
        </p:nvSpPr>
        <p:spPr>
          <a:xfrm>
            <a:off x="10675496" y="4672792"/>
            <a:ext cx="101968" cy="1019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椭圆 48"/>
          <p:cNvSpPr/>
          <p:nvPr/>
        </p:nvSpPr>
        <p:spPr>
          <a:xfrm>
            <a:off x="1068296" y="4672023"/>
            <a:ext cx="101968" cy="1019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箭头: V 形 49"/>
          <p:cNvSpPr/>
          <p:nvPr/>
        </p:nvSpPr>
        <p:spPr>
          <a:xfrm rot="5400000">
            <a:off x="907924" y="3901563"/>
            <a:ext cx="357945" cy="604019"/>
          </a:xfrm>
          <a:prstGeom prst="chevron">
            <a:avLst>
              <a:gd name="adj" fmla="val 48413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9478" y="-499744"/>
            <a:ext cx="3460702" cy="2446851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1578610" y="3873500"/>
            <a:ext cx="94976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ym typeface="+mn-ea"/>
              </a:rPr>
              <a:t>文献调研与改进思路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1429309" y="4988694"/>
            <a:ext cx="4349262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消融指标对比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1468755" y="5450205"/>
            <a:ext cx="9497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消融指标对比</a:t>
            </a:r>
          </a:p>
        </p:txBody>
      </p:sp>
      <p:cxnSp>
        <p:nvCxnSpPr>
          <p:cNvPr id="12" name="直接连接符 11"/>
          <p:cNvCxnSpPr/>
          <p:nvPr/>
        </p:nvCxnSpPr>
        <p:spPr>
          <a:xfrm>
            <a:off x="1170264" y="6198658"/>
            <a:ext cx="9505950" cy="4445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/>
          <p:cNvSpPr/>
          <p:nvPr/>
        </p:nvSpPr>
        <p:spPr>
          <a:xfrm>
            <a:off x="10676131" y="6156713"/>
            <a:ext cx="101968" cy="1019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椭圆 14"/>
          <p:cNvSpPr/>
          <p:nvPr/>
        </p:nvSpPr>
        <p:spPr>
          <a:xfrm>
            <a:off x="1068296" y="6148324"/>
            <a:ext cx="101968" cy="1019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箭头: V 形 19"/>
          <p:cNvSpPr/>
          <p:nvPr/>
        </p:nvSpPr>
        <p:spPr>
          <a:xfrm rot="5400000">
            <a:off x="907924" y="5377864"/>
            <a:ext cx="357945" cy="604019"/>
          </a:xfrm>
          <a:prstGeom prst="chevron">
            <a:avLst>
              <a:gd name="adj" fmla="val 48413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cxnSp>
        <p:nvCxnSpPr>
          <p:cNvPr id="4" name="直接连接符 3"/>
          <p:cNvCxnSpPr/>
          <p:nvPr/>
        </p:nvCxnSpPr>
        <p:spPr>
          <a:xfrm>
            <a:off x="1169629" y="4733713"/>
            <a:ext cx="9505950" cy="4445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3645104"/>
            <a:ext cx="12192000" cy="3212896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0" y="3145810"/>
            <a:ext cx="12192000" cy="5115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等腰三角形 2"/>
          <p:cNvSpPr/>
          <p:nvPr/>
        </p:nvSpPr>
        <p:spPr>
          <a:xfrm rot="10800000">
            <a:off x="-324465" y="3645104"/>
            <a:ext cx="12840929" cy="1059753"/>
          </a:xfrm>
          <a:prstGeom prst="triangle">
            <a:avLst>
              <a:gd name="adj" fmla="val 4952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: 圆角 4"/>
          <p:cNvSpPr/>
          <p:nvPr/>
        </p:nvSpPr>
        <p:spPr>
          <a:xfrm>
            <a:off x="3213510" y="1953928"/>
            <a:ext cx="1146413" cy="1146413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3213510" y="1953927"/>
            <a:ext cx="114641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6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01</a:t>
            </a:r>
            <a:endParaRPr lang="zh-CN" altLang="en-US" sz="66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4770090" y="1887378"/>
            <a:ext cx="701494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660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1. 原始处理方法</a:t>
            </a:r>
            <a:endParaRPr lang="zh-CN" altLang="en-US" sz="6600" dirty="0">
              <a:solidFill>
                <a:schemeClr val="accent1">
                  <a:lumMod val="50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827883" y="2986066"/>
            <a:ext cx="51050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accent1">
                    <a:lumMod val="50000"/>
                  </a:schemeClr>
                </a:solidFill>
                <a:latin typeface="+mj-ea"/>
                <a:ea typeface="+mj-ea"/>
              </a:rPr>
              <a:t>Baseline Processing Pipeline</a:t>
            </a:r>
            <a:endParaRPr lang="zh-CN" altLang="en-US" sz="2400" b="1" dirty="0">
              <a:solidFill>
                <a:schemeClr val="accent1">
                  <a:lumMod val="50000"/>
                </a:schemeClr>
              </a:solidFill>
              <a:latin typeface="+mj-ea"/>
              <a:ea typeface="+mj-ea"/>
            </a:endParaRPr>
          </a:p>
          <a:p>
            <a:pPr algn="ctr"/>
            <a:endParaRPr lang="zh-CN" altLang="en-US" sz="2400" b="1" dirty="0">
              <a:solidFill>
                <a:schemeClr val="accent1">
                  <a:lumMod val="50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9740" y="-736009"/>
            <a:ext cx="3920726" cy="2772106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91998" y="-2131690"/>
            <a:ext cx="6958694" cy="15014702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315" y="1272926"/>
            <a:ext cx="6401043" cy="9054379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2598" y="4172642"/>
            <a:ext cx="2822398" cy="39923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290320" y="1557821"/>
            <a:ext cx="562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原始流程与实现</a:t>
            </a:r>
            <a:endParaRPr lang="zh-CN" altLang="en-US" sz="32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229360" y="931861"/>
            <a:ext cx="81280" cy="1168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6096000" y="1798699"/>
            <a:ext cx="5059680" cy="2226041"/>
          </a:xfrm>
          <a:prstGeom prst="rect">
            <a:avLst/>
          </a:prstGeom>
          <a:blipFill dpi="0" rotWithShape="1"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036320" y="4024740"/>
            <a:ext cx="5059680" cy="230732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: 圆角 15"/>
          <p:cNvSpPr/>
          <p:nvPr/>
        </p:nvSpPr>
        <p:spPr>
          <a:xfrm>
            <a:off x="1036320" y="1886868"/>
            <a:ext cx="4516120" cy="1745856"/>
          </a:xfrm>
          <a:prstGeom prst="roundRect">
            <a:avLst>
              <a:gd name="adj" fmla="val 31195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+mn-ea"/>
              </a:rPr>
              <a:t>处理流程：CSV→reshape(801×79)→AGC→背景抑制→PNG</a:t>
            </a:r>
            <a:endParaRPr lang="zh-CN" altLang="en-US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矩形: 圆角 13"/>
          <p:cNvSpPr/>
          <p:nvPr/>
        </p:nvSpPr>
        <p:spPr>
          <a:xfrm>
            <a:off x="6639560" y="4473754"/>
            <a:ext cx="4516120" cy="1745856"/>
          </a:xfrm>
          <a:prstGeom prst="roundRect">
            <a:avLst>
              <a:gd name="adj" fmla="val 31195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+mn-ea"/>
              </a:rPr>
              <a:t>问题：AGC增益无上限；窗口固定；第79道NaN未处理</a:t>
            </a:r>
            <a:endParaRPr lang="zh-CN" altLang="en-US" dirty="0">
              <a:solidFill>
                <a:schemeClr val="tx1"/>
              </a:solidFill>
              <a:latin typeface="+mn-ea"/>
            </a:endParaRP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9478" y="-499744"/>
            <a:ext cx="3460702" cy="2446851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50834" y="-19685"/>
            <a:ext cx="1296364" cy="1833727"/>
          </a:xfrm>
          <a:prstGeom prst="rect">
            <a:avLst/>
          </a:prstGeom>
        </p:spPr>
      </p:pic>
      <p:sp>
        <p:nvSpPr>
          <p:cNvPr id="11" name="箭头: 五边形 10"/>
          <p:cNvSpPr/>
          <p:nvPr/>
        </p:nvSpPr>
        <p:spPr>
          <a:xfrm>
            <a:off x="0" y="478074"/>
            <a:ext cx="7266562" cy="642025"/>
          </a:xfrm>
          <a:prstGeom prst="homePlate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箭头: V 形 11"/>
          <p:cNvSpPr/>
          <p:nvPr/>
        </p:nvSpPr>
        <p:spPr>
          <a:xfrm>
            <a:off x="7072641" y="478073"/>
            <a:ext cx="523925" cy="642025"/>
          </a:xfrm>
          <a:prstGeom prst="chevron">
            <a:avLst>
              <a:gd name="adj" fmla="val 62487"/>
            </a:avLst>
          </a:prstGeom>
          <a:solidFill>
            <a:schemeClr val="accent1">
              <a:lumMod val="7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3" name="箭头: V 形 12"/>
          <p:cNvSpPr/>
          <p:nvPr/>
        </p:nvSpPr>
        <p:spPr>
          <a:xfrm>
            <a:off x="7424379" y="478073"/>
            <a:ext cx="427941" cy="642025"/>
          </a:xfrm>
          <a:prstGeom prst="chevron">
            <a:avLst>
              <a:gd name="adj" fmla="val 76041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7" name="箭头: V 形 16"/>
          <p:cNvSpPr/>
          <p:nvPr/>
        </p:nvSpPr>
        <p:spPr>
          <a:xfrm>
            <a:off x="7755773" y="478073"/>
            <a:ext cx="373468" cy="642025"/>
          </a:xfrm>
          <a:prstGeom prst="chevron">
            <a:avLst>
              <a:gd name="adj" fmla="val 85754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752997" y="461745"/>
            <a:ext cx="53938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关键参数</a:t>
            </a:r>
            <a:endParaRPr lang="zh-CN" altLang="en-US" sz="36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9" name="直角三角形 18"/>
          <p:cNvSpPr/>
          <p:nvPr/>
        </p:nvSpPr>
        <p:spPr>
          <a:xfrm rot="10800000">
            <a:off x="-27021" y="1120093"/>
            <a:ext cx="629302" cy="425719"/>
          </a:xfrm>
          <a:prstGeom prst="rtTriangle">
            <a:avLst/>
          </a:prstGeom>
          <a:solidFill>
            <a:schemeClr val="accent1">
              <a:lumMod val="75000"/>
              <a:alpha val="6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776057" y="1165950"/>
            <a:ext cx="5544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AGC窗口=151；背景抑制ntraces=79</a:t>
            </a:r>
            <a:endParaRPr lang="zh-CN" altLang="en-US" sz="2000" dirty="0">
              <a:solidFill>
                <a:schemeClr val="tx1">
                  <a:lumMod val="50000"/>
                  <a:lumOff val="50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6145" y="390907"/>
            <a:ext cx="891058" cy="1260416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9301" y="-83132"/>
            <a:ext cx="1429499" cy="2022049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4579" y="-101986"/>
            <a:ext cx="1218069" cy="2177058"/>
          </a:xfrm>
          <a:prstGeom prst="rect">
            <a:avLst/>
          </a:prstGeom>
        </p:spPr>
      </p:pic>
      <p:pic>
        <p:nvPicPr>
          <p:cNvPr id="24" name="图片 2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8196" y="161575"/>
            <a:ext cx="1057173" cy="149538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 cstate="print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-120000">
            <a:off x="-1670205" y="368258"/>
            <a:ext cx="6806817" cy="9628353"/>
          </a:xfrm>
          <a:prstGeom prst="rect">
            <a:avLst/>
          </a:prstGeom>
        </p:spPr>
      </p:pic>
      <p:sp>
        <p:nvSpPr>
          <p:cNvPr id="4" name="椭圆 3"/>
          <p:cNvSpPr/>
          <p:nvPr>
            <p:custDataLst>
              <p:tags r:id="rId2"/>
            </p:custDataLst>
          </p:nvPr>
        </p:nvSpPr>
        <p:spPr>
          <a:xfrm>
            <a:off x="2015600" y="2617505"/>
            <a:ext cx="586619" cy="58661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等腰三角形 5"/>
          <p:cNvSpPr/>
          <p:nvPr>
            <p:custDataLst>
              <p:tags r:id="rId3"/>
            </p:custDataLst>
          </p:nvPr>
        </p:nvSpPr>
        <p:spPr>
          <a:xfrm rot="16200000">
            <a:off x="2055596" y="2692609"/>
            <a:ext cx="1679864" cy="436414"/>
          </a:xfrm>
          <a:prstGeom prst="triangl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>
            <p:custDataLst>
              <p:tags r:id="rId4"/>
            </p:custDataLst>
          </p:nvPr>
        </p:nvSpPr>
        <p:spPr>
          <a:xfrm>
            <a:off x="3113735" y="2070886"/>
            <a:ext cx="3203862" cy="16798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椭圆 7"/>
          <p:cNvSpPr/>
          <p:nvPr>
            <p:custDataLst>
              <p:tags r:id="rId5"/>
            </p:custDataLst>
          </p:nvPr>
        </p:nvSpPr>
        <p:spPr>
          <a:xfrm>
            <a:off x="7031106" y="2617503"/>
            <a:ext cx="586619" cy="586619"/>
          </a:xfrm>
          <a:prstGeom prst="ellipse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" name="等腰三角形 8"/>
          <p:cNvSpPr/>
          <p:nvPr>
            <p:custDataLst>
              <p:tags r:id="rId6"/>
            </p:custDataLst>
          </p:nvPr>
        </p:nvSpPr>
        <p:spPr>
          <a:xfrm rot="16200000">
            <a:off x="7071102" y="2692607"/>
            <a:ext cx="1679864" cy="436414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>
            <p:custDataLst>
              <p:tags r:id="rId7"/>
            </p:custDataLst>
          </p:nvPr>
        </p:nvSpPr>
        <p:spPr>
          <a:xfrm>
            <a:off x="8129241" y="2070884"/>
            <a:ext cx="3203862" cy="1679864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" name="椭圆 10"/>
          <p:cNvSpPr/>
          <p:nvPr>
            <p:custDataLst>
              <p:tags r:id="rId8"/>
            </p:custDataLst>
          </p:nvPr>
        </p:nvSpPr>
        <p:spPr>
          <a:xfrm>
            <a:off x="2015600" y="4884455"/>
            <a:ext cx="586619" cy="586619"/>
          </a:xfrm>
          <a:prstGeom prst="ellipse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" name="等腰三角形 11"/>
          <p:cNvSpPr/>
          <p:nvPr>
            <p:custDataLst>
              <p:tags r:id="rId9"/>
            </p:custDataLst>
          </p:nvPr>
        </p:nvSpPr>
        <p:spPr>
          <a:xfrm rot="16200000">
            <a:off x="2055596" y="4959559"/>
            <a:ext cx="1679864" cy="436414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/>
          <p:cNvSpPr/>
          <p:nvPr>
            <p:custDataLst>
              <p:tags r:id="rId10"/>
            </p:custDataLst>
          </p:nvPr>
        </p:nvSpPr>
        <p:spPr>
          <a:xfrm>
            <a:off x="3113735" y="4337836"/>
            <a:ext cx="3203862" cy="1679864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13"/>
          <p:cNvSpPr/>
          <p:nvPr>
            <p:custDataLst>
              <p:tags r:id="rId11"/>
            </p:custDataLst>
          </p:nvPr>
        </p:nvSpPr>
        <p:spPr>
          <a:xfrm>
            <a:off x="7031106" y="4884453"/>
            <a:ext cx="586619" cy="58661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等腰三角形 14"/>
          <p:cNvSpPr/>
          <p:nvPr>
            <p:custDataLst>
              <p:tags r:id="rId12"/>
            </p:custDataLst>
          </p:nvPr>
        </p:nvSpPr>
        <p:spPr>
          <a:xfrm rot="16200000">
            <a:off x="7071102" y="4959557"/>
            <a:ext cx="1679864" cy="436414"/>
          </a:xfrm>
          <a:prstGeom prst="triangl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/>
          <p:cNvSpPr/>
          <p:nvPr>
            <p:custDataLst>
              <p:tags r:id="rId13"/>
            </p:custDataLst>
          </p:nvPr>
        </p:nvSpPr>
        <p:spPr>
          <a:xfrm>
            <a:off x="8129241" y="4334024"/>
            <a:ext cx="3203862" cy="16798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>
            <p:custDataLst>
              <p:tags r:id="rId14"/>
            </p:custDataLst>
          </p:nvPr>
        </p:nvSpPr>
        <p:spPr>
          <a:xfrm>
            <a:off x="3113735" y="2099233"/>
            <a:ext cx="32038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改进A：SVD低秩</a:t>
            </a:r>
            <a:endParaRPr lang="zh-CN" altLang="en-US" sz="24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2" name="文本框 21"/>
          <p:cNvSpPr txBox="1"/>
          <p:nvPr>
            <p:custDataLst>
              <p:tags r:id="rId15"/>
            </p:custDataLst>
          </p:nvPr>
        </p:nvSpPr>
        <p:spPr>
          <a:xfrm>
            <a:off x="3113735" y="2617503"/>
            <a:ext cx="3203862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tx1"/>
                </a:solidFill>
                <a:latin typeface="+mn-ea"/>
              </a:rPr>
              <a:t>rank=1；SNR 11.64 dB；0.65s</a:t>
            </a:r>
            <a:endParaRPr lang="zh-CN" altLang="en-US" dirty="0">
              <a:solidFill>
                <a:schemeClr val="tx1"/>
              </a:solidFill>
              <a:latin typeface="+mn-ea"/>
            </a:endParaRPr>
          </a:p>
        </p:txBody>
      </p:sp>
      <p:pic>
        <p:nvPicPr>
          <p:cNvPr id="24" name="图形 23" descr="头上的大脑 纯色填充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062224" y="2666912"/>
            <a:ext cx="491672" cy="491672"/>
          </a:xfrm>
          <a:prstGeom prst="rect">
            <a:avLst/>
          </a:prstGeom>
        </p:spPr>
      </p:pic>
      <p:pic>
        <p:nvPicPr>
          <p:cNvPr id="26" name="图形 25" descr="拼图 纯色填充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7058774" y="2640465"/>
            <a:ext cx="540693" cy="540693"/>
          </a:xfrm>
          <a:prstGeom prst="rect">
            <a:avLst/>
          </a:prstGeom>
        </p:spPr>
      </p:pic>
      <p:pic>
        <p:nvPicPr>
          <p:cNvPr id="28" name="图形 27" descr="灯泡和齿轮 纯色填充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062060" y="4931844"/>
            <a:ext cx="491836" cy="491836"/>
          </a:xfrm>
          <a:prstGeom prst="rect">
            <a:avLst/>
          </a:prstGeom>
        </p:spPr>
      </p:pic>
      <p:pic>
        <p:nvPicPr>
          <p:cNvPr id="30" name="图形 29" descr="社交网络 纯色填充"/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7072630" y="4920173"/>
            <a:ext cx="515178" cy="515178"/>
          </a:xfrm>
          <a:prstGeom prst="rect">
            <a:avLst/>
          </a:prstGeom>
        </p:spPr>
      </p:pic>
      <p:sp>
        <p:nvSpPr>
          <p:cNvPr id="32" name="文本框 31"/>
          <p:cNvSpPr txBox="1"/>
          <p:nvPr>
            <p:custDataLst>
              <p:tags r:id="rId28"/>
            </p:custDataLst>
          </p:nvPr>
        </p:nvSpPr>
        <p:spPr>
          <a:xfrm>
            <a:off x="8129241" y="2070879"/>
            <a:ext cx="326777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改进B：AGC增益上限</a:t>
            </a:r>
            <a:endParaRPr lang="zh-CN" altLang="en-US" sz="24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4" name="文本框 33"/>
          <p:cNvSpPr txBox="1"/>
          <p:nvPr>
            <p:custDataLst>
              <p:tags r:id="rId29"/>
            </p:custDataLst>
          </p:nvPr>
        </p:nvSpPr>
        <p:spPr>
          <a:xfrm>
            <a:off x="8130980" y="2617503"/>
            <a:ext cx="3202123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  <a:latin typeface="+mn-ea"/>
              </a:rPr>
              <a:t>window=301，cap=10；SNR 8.33 dB</a:t>
            </a:r>
            <a:endParaRPr lang="zh-CN" altLang="en-US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文本框 35"/>
          <p:cNvSpPr txBox="1"/>
          <p:nvPr>
            <p:custDataLst>
              <p:tags r:id="rId30"/>
            </p:custDataLst>
          </p:nvPr>
        </p:nvSpPr>
        <p:spPr>
          <a:xfrm>
            <a:off x="3072420" y="4884453"/>
            <a:ext cx="3203862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  <a:latin typeface="+mn-ea"/>
              </a:rPr>
              <a:t>AGC+滑动平均；SNR 11.97 dB</a:t>
            </a:r>
            <a:endParaRPr lang="zh-CN" altLang="en-US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8" name="文本框 37"/>
          <p:cNvSpPr txBox="1"/>
          <p:nvPr>
            <p:custDataLst>
              <p:tags r:id="rId31"/>
            </p:custDataLst>
          </p:nvPr>
        </p:nvSpPr>
        <p:spPr>
          <a:xfrm>
            <a:off x="8129241" y="4900757"/>
            <a:ext cx="3203862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tx1"/>
                </a:solidFill>
                <a:latin typeface="+mn-ea"/>
              </a:rPr>
              <a:t>SVD接近基线且更快；AGC需调参</a:t>
            </a:r>
            <a:endParaRPr lang="zh-CN" altLang="en-US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9" name="文本框 38"/>
          <p:cNvSpPr txBox="1"/>
          <p:nvPr>
            <p:custDataLst>
              <p:tags r:id="rId32"/>
            </p:custDataLst>
          </p:nvPr>
        </p:nvSpPr>
        <p:spPr>
          <a:xfrm>
            <a:off x="3113735" y="4334278"/>
            <a:ext cx="32038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基线方法</a:t>
            </a:r>
            <a:endParaRPr lang="zh-CN" altLang="en-US" sz="24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0" name="文本框 39"/>
          <p:cNvSpPr txBox="1"/>
          <p:nvPr>
            <p:custDataLst>
              <p:tags r:id="rId33"/>
            </p:custDataLst>
          </p:nvPr>
        </p:nvSpPr>
        <p:spPr>
          <a:xfrm>
            <a:off x="8129241" y="4337829"/>
            <a:ext cx="32038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结论</a:t>
            </a:r>
            <a:endParaRPr lang="zh-CN" altLang="en-US" sz="24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290320" y="1459847"/>
            <a:ext cx="562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改进方法与结果</a:t>
            </a:r>
            <a:endParaRPr lang="zh-CN" altLang="en-US" sz="32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29360" y="1013506"/>
            <a:ext cx="81280" cy="1168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7" name="图片 36"/>
          <p:cNvPicPr>
            <a:picLocks noChangeAspect="1"/>
          </p:cNvPicPr>
          <p:nvPr/>
        </p:nvPicPr>
        <p:blipFill>
          <a:blip r:embed="rId3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4579" y="-101986"/>
            <a:ext cx="1218069" cy="2177058"/>
          </a:xfrm>
          <a:prstGeom prst="rect">
            <a:avLst/>
          </a:prstGeom>
        </p:spPr>
      </p:pic>
      <p:sp>
        <p:nvSpPr>
          <p:cNvPr id="47" name="箭头: 五边形 46"/>
          <p:cNvSpPr/>
          <p:nvPr/>
        </p:nvSpPr>
        <p:spPr>
          <a:xfrm>
            <a:off x="0" y="478074"/>
            <a:ext cx="7266562" cy="642025"/>
          </a:xfrm>
          <a:prstGeom prst="homePlate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箭头: V 形 47"/>
          <p:cNvSpPr/>
          <p:nvPr/>
        </p:nvSpPr>
        <p:spPr>
          <a:xfrm>
            <a:off x="7072641" y="478073"/>
            <a:ext cx="523925" cy="642025"/>
          </a:xfrm>
          <a:prstGeom prst="chevron">
            <a:avLst>
              <a:gd name="adj" fmla="val 62487"/>
            </a:avLst>
          </a:prstGeom>
          <a:solidFill>
            <a:schemeClr val="accent1">
              <a:lumMod val="7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9" name="箭头: V 形 48"/>
          <p:cNvSpPr/>
          <p:nvPr/>
        </p:nvSpPr>
        <p:spPr>
          <a:xfrm>
            <a:off x="7424379" y="478073"/>
            <a:ext cx="427941" cy="642025"/>
          </a:xfrm>
          <a:prstGeom prst="chevron">
            <a:avLst>
              <a:gd name="adj" fmla="val 76041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50" name="箭头: V 形 49"/>
          <p:cNvSpPr/>
          <p:nvPr/>
        </p:nvSpPr>
        <p:spPr>
          <a:xfrm>
            <a:off x="7755773" y="478073"/>
            <a:ext cx="373468" cy="642025"/>
          </a:xfrm>
          <a:prstGeom prst="chevron">
            <a:avLst>
              <a:gd name="adj" fmla="val 85754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752997" y="461745"/>
            <a:ext cx="53938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性能对比结论</a:t>
            </a:r>
            <a:endParaRPr lang="zh-CN" altLang="en-US" sz="36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2" name="直角三角形 51"/>
          <p:cNvSpPr/>
          <p:nvPr/>
        </p:nvSpPr>
        <p:spPr>
          <a:xfrm rot="10800000">
            <a:off x="-27021" y="1120093"/>
            <a:ext cx="629302" cy="425719"/>
          </a:xfrm>
          <a:prstGeom prst="rtTriangle">
            <a:avLst/>
          </a:prstGeom>
          <a:solidFill>
            <a:schemeClr val="accent1">
              <a:lumMod val="75000"/>
              <a:alpha val="6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/>
          <p:cNvSpPr txBox="1"/>
          <p:nvPr/>
        </p:nvSpPr>
        <p:spPr>
          <a:xfrm>
            <a:off x="776057" y="1165950"/>
            <a:ext cx="5544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SVD接近基线且更快；AGC需调参</a:t>
            </a:r>
            <a:endParaRPr lang="zh-CN" altLang="en-US" sz="2000" dirty="0">
              <a:solidFill>
                <a:schemeClr val="tx1">
                  <a:lumMod val="50000"/>
                  <a:lumOff val="50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54" name="图片 53"/>
          <p:cNvPicPr>
            <a:picLocks noChangeAspect="1"/>
          </p:cNvPicPr>
          <p:nvPr/>
        </p:nvPicPr>
        <p:blipFill>
          <a:blip r:embed="rId3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6145" y="309262"/>
            <a:ext cx="891058" cy="1260416"/>
          </a:xfrm>
          <a:prstGeom prst="rect">
            <a:avLst/>
          </a:prstGeom>
        </p:spPr>
      </p:pic>
      <p:pic>
        <p:nvPicPr>
          <p:cNvPr id="55" name="图片 54"/>
          <p:cNvPicPr>
            <a:picLocks noChangeAspect="1"/>
          </p:cNvPicPr>
          <p:nvPr/>
        </p:nvPicPr>
        <p:blipFill>
          <a:blip r:embed="rId3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8196" y="166310"/>
            <a:ext cx="1057173" cy="1495387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3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5058" y="-94640"/>
            <a:ext cx="1429499" cy="2022049"/>
          </a:xfrm>
          <a:prstGeom prst="rect">
            <a:avLst/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3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0336" y="-104868"/>
            <a:ext cx="1218069" cy="2177058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3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9478" y="-499744"/>
            <a:ext cx="3460702" cy="244685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-37465" y="-38100"/>
            <a:ext cx="12302490" cy="689483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等腰三角形 1"/>
          <p:cNvSpPr/>
          <p:nvPr/>
        </p:nvSpPr>
        <p:spPr>
          <a:xfrm rot="5400000">
            <a:off x="1414460" y="1626715"/>
            <a:ext cx="10302766" cy="3604570"/>
          </a:xfrm>
          <a:prstGeom prst="triangl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" name="等腰三角形 2"/>
          <p:cNvSpPr/>
          <p:nvPr/>
        </p:nvSpPr>
        <p:spPr>
          <a:xfrm rot="5400000">
            <a:off x="676035" y="1606932"/>
            <a:ext cx="10302766" cy="3604570"/>
          </a:xfrm>
          <a:prstGeom prst="triangl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等腰三角形 3"/>
          <p:cNvSpPr/>
          <p:nvPr/>
        </p:nvSpPr>
        <p:spPr>
          <a:xfrm rot="5400000">
            <a:off x="23162" y="1616824"/>
            <a:ext cx="10302766" cy="3604570"/>
          </a:xfrm>
          <a:prstGeom prst="triangle">
            <a:avLst/>
          </a:prstGeom>
          <a:solidFill>
            <a:schemeClr val="bg1"/>
          </a:solidFill>
          <a:ln>
            <a:noFill/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 rot="10800000">
            <a:off x="-167005" y="-149860"/>
            <a:ext cx="4191635" cy="70084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598092" y="1935681"/>
            <a:ext cx="5074285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谢谢观看</a:t>
            </a:r>
            <a:endParaRPr lang="zh-CN" altLang="en-US" sz="9600" dirty="0">
              <a:solidFill>
                <a:schemeClr val="accent1">
                  <a:lumMod val="50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74963" y="3509622"/>
            <a:ext cx="69522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800" dirty="0">
                <a:solidFill>
                  <a:schemeClr val="accent1">
                    <a:lumMod val="50000"/>
                  </a:schemeClr>
                </a:solidFill>
                <a:latin typeface="+mn-ea"/>
              </a:rPr>
              <a:t>Thank you</a:t>
            </a:r>
            <a:r>
              <a:rPr lang="zh-CN" altLang="en-US" sz="4800" dirty="0">
                <a:solidFill>
                  <a:schemeClr val="accent1">
                    <a:lumMod val="50000"/>
                  </a:schemeClr>
                </a:solidFill>
                <a:latin typeface="+mn-ea"/>
              </a:rPr>
              <a:t xml:space="preserve"> </a:t>
            </a:r>
            <a:r>
              <a:rPr lang="en-US" altLang="zh-CN" sz="4800" dirty="0">
                <a:solidFill>
                  <a:schemeClr val="accent1">
                    <a:lumMod val="50000"/>
                  </a:schemeClr>
                </a:solidFill>
                <a:latin typeface="+mn-ea"/>
              </a:rPr>
              <a:t>for</a:t>
            </a:r>
            <a:r>
              <a:rPr lang="zh-CN" altLang="en-US" sz="4800" dirty="0">
                <a:solidFill>
                  <a:schemeClr val="accent1">
                    <a:lumMod val="50000"/>
                  </a:schemeClr>
                </a:solidFill>
                <a:latin typeface="+mn-ea"/>
              </a:rPr>
              <a:t xml:space="preserve"> </a:t>
            </a:r>
            <a:r>
              <a:rPr lang="en-US" altLang="zh-CN" sz="4800" dirty="0">
                <a:solidFill>
                  <a:schemeClr val="accent1">
                    <a:lumMod val="50000"/>
                  </a:schemeClr>
                </a:solidFill>
                <a:latin typeface="+mn-ea"/>
              </a:rPr>
              <a:t>watching</a:t>
            </a:r>
            <a:r>
              <a:rPr lang="zh-CN" altLang="en-US" sz="4800" dirty="0">
                <a:solidFill>
                  <a:schemeClr val="accent1">
                    <a:lumMod val="50000"/>
                  </a:schemeClr>
                </a:solidFill>
                <a:latin typeface="+mn-ea"/>
              </a:rPr>
              <a:t xml:space="preserve"> </a:t>
            </a:r>
            <a:endParaRPr lang="zh-CN" altLang="en-US" sz="4800" dirty="0">
              <a:solidFill>
                <a:schemeClr val="accent1">
                  <a:lumMod val="50000"/>
                </a:schemeClr>
              </a:solidFill>
              <a:latin typeface="+mn-ea"/>
            </a:endParaRPr>
          </a:p>
        </p:txBody>
      </p:sp>
      <p:pic>
        <p:nvPicPr>
          <p:cNvPr id="25" name="图片 2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756" y="-849874"/>
            <a:ext cx="4161137" cy="2942086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6566" y="108020"/>
            <a:ext cx="7474443" cy="10572719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690880" y="6355715"/>
            <a:ext cx="366839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rgbClr val="203864"/>
                </a:solidFill>
              </a:rPr>
              <a:t>GPR报告</a:t>
            </a:r>
            <a:r>
              <a:rPr lang="zh-CN" altLang="en-US" sz="1600">
                <a:solidFill>
                  <a:srgbClr val="203864"/>
                </a:solidFill>
              </a:rPr>
              <a:t>设计</a:t>
            </a:r>
            <a:r>
              <a:rPr lang="en-US" altLang="zh-CN" sz="1600">
                <a:solidFill>
                  <a:srgbClr val="203864"/>
                </a:solidFill>
              </a:rPr>
              <a:t xml:space="preserve"> </a:t>
            </a:r>
            <a:r>
              <a:rPr lang="zh-CN" altLang="en-US" sz="1600">
                <a:solidFill>
                  <a:srgbClr val="203864"/>
                </a:solidFill>
              </a:rPr>
              <a:t>：向映妮</a:t>
            </a:r>
            <a:r>
              <a:rPr lang="en-US" altLang="zh-CN" sz="1600">
                <a:solidFill>
                  <a:srgbClr val="203864"/>
                </a:solidFill>
              </a:rPr>
              <a:t xml:space="preserve">   </a:t>
            </a:r>
            <a:r>
              <a:rPr lang="zh-CN" altLang="en-US" sz="1600">
                <a:solidFill>
                  <a:srgbClr val="203864"/>
                </a:solidFill>
              </a:rPr>
              <a:t>指导老师：张艳</a:t>
            </a:r>
            <a:endParaRPr lang="zh-CN" altLang="en-US" sz="1600">
              <a:solidFill>
                <a:srgbClr val="203864"/>
              </a:solidFill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2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3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4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5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6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7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8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9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10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11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12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13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14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15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16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17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18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19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20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21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22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23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24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25.xml><?xml version="1.0" encoding="utf-8"?>
<p:tagLst xmlns:p="http://schemas.openxmlformats.org/presentationml/2006/main">
  <p:tag name="COMMONDATA" val="eyJoZGlkIjoiY2I1OGY1YTNlMjQ3ZmI2ZGJjYWRlMmY0NmVmYTEzMTUifQ=="/>
  <p:tag name="commondata" val="eyJoZGlkIjoiODViY2JkMjU3NGYzZTEwMzZmMGFkZWViYmNkYWU3NDI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608</Words>
  <Application>WPS 演示</Application>
  <PresentationFormat>宽屏</PresentationFormat>
  <Paragraphs>138</Paragraphs>
  <Slides>11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1" baseType="lpstr">
      <vt:lpstr>Arial</vt:lpstr>
      <vt:lpstr>宋体</vt:lpstr>
      <vt:lpstr>Wingdings</vt:lpstr>
      <vt:lpstr>黑体</vt:lpstr>
      <vt:lpstr>等线</vt:lpstr>
      <vt:lpstr>等线 Light</vt:lpstr>
      <vt:lpstr>微软雅黑</vt:lpstr>
      <vt:lpstr>Arial Unicode MS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映昵 向</dc:creator>
  <cp:lastModifiedBy>邹俐均</cp:lastModifiedBy>
  <cp:revision>38</cp:revision>
  <dcterms:created xsi:type="dcterms:W3CDTF">2024-05-06T14:11:00Z</dcterms:created>
  <dcterms:modified xsi:type="dcterms:W3CDTF">2024-06-03T09:47:57Z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71EBC29B06834F26B485FA1E5FCD2594_12</vt:lpwstr>
  </property>
  <property fmtid="{D5CDD505-2E9C-101B-9397-08002B2CF9AE}" pid="3" name="KSOProductBuildVer">
    <vt:lpwstr>2052-12.1.0.16929</vt:lpwstr>
  </property>
</Properties>
</file>